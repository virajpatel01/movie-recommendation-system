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90"/>
    <p:restoredTop sz="94652"/>
  </p:normalViewPr>
  <p:slideViewPr>
    <p:cSldViewPr snapToGrid="0">
      <p:cViewPr varScale="1">
        <p:scale>
          <a:sx n="123" d="100"/>
          <a:sy n="123" d="100"/>
        </p:scale>
        <p:origin x="464"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DF84F-E85B-07D5-3272-2E7EA84E7CA3}"/>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C5174B6-33CE-77FB-E42B-E4E3A4BCD57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85F541AA-9D8B-77F2-6A48-9447E3420FE3}"/>
              </a:ext>
            </a:extLst>
          </p:cNvPr>
          <p:cNvSpPr>
            <a:spLocks noGrp="1"/>
          </p:cNvSpPr>
          <p:nvPr>
            <p:ph type="dt" sz="half" idx="10"/>
          </p:nvPr>
        </p:nvSpPr>
        <p:spPr/>
        <p:txBody>
          <a:bodyPr/>
          <a:lstStyle/>
          <a:p>
            <a:fld id="{0F54BA43-35BD-AE46-BC07-7421C90D6F53}" type="datetimeFigureOut">
              <a:rPr lang="en-US" smtClean="0"/>
              <a:t>6/12/25</a:t>
            </a:fld>
            <a:endParaRPr lang="en-US"/>
          </a:p>
        </p:txBody>
      </p:sp>
      <p:sp>
        <p:nvSpPr>
          <p:cNvPr id="5" name="Footer Placeholder 4">
            <a:extLst>
              <a:ext uri="{FF2B5EF4-FFF2-40B4-BE49-F238E27FC236}">
                <a16:creationId xmlns:a16="http://schemas.microsoft.com/office/drawing/2014/main" id="{DC279D3B-850B-7666-3F11-D50FD9723F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9A20BB-1F1C-C1D1-024F-6F13AD9F7A8C}"/>
              </a:ext>
            </a:extLst>
          </p:cNvPr>
          <p:cNvSpPr>
            <a:spLocks noGrp="1"/>
          </p:cNvSpPr>
          <p:nvPr>
            <p:ph type="sldNum" sz="quarter" idx="12"/>
          </p:nvPr>
        </p:nvSpPr>
        <p:spPr/>
        <p:txBody>
          <a:bodyPr/>
          <a:lstStyle/>
          <a:p>
            <a:fld id="{B745987F-7036-B147-97CC-9513E3F5844F}" type="slidenum">
              <a:rPr lang="en-US" smtClean="0"/>
              <a:t>‹#›</a:t>
            </a:fld>
            <a:endParaRPr lang="en-US"/>
          </a:p>
        </p:txBody>
      </p:sp>
    </p:spTree>
    <p:extLst>
      <p:ext uri="{BB962C8B-B14F-4D97-AF65-F5344CB8AC3E}">
        <p14:creationId xmlns:p14="http://schemas.microsoft.com/office/powerpoint/2010/main" val="8054271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B6A23-F005-8170-D627-43F23DAA5E0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06BCFEE9-66EA-E07D-AD00-FE75C37A6B53}"/>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D1516AD-4BC4-CBB3-5986-554BE4922361}"/>
              </a:ext>
            </a:extLst>
          </p:cNvPr>
          <p:cNvSpPr>
            <a:spLocks noGrp="1"/>
          </p:cNvSpPr>
          <p:nvPr>
            <p:ph type="dt" sz="half" idx="10"/>
          </p:nvPr>
        </p:nvSpPr>
        <p:spPr/>
        <p:txBody>
          <a:bodyPr/>
          <a:lstStyle/>
          <a:p>
            <a:fld id="{0F54BA43-35BD-AE46-BC07-7421C90D6F53}" type="datetimeFigureOut">
              <a:rPr lang="en-US" smtClean="0"/>
              <a:t>6/12/25</a:t>
            </a:fld>
            <a:endParaRPr lang="en-US"/>
          </a:p>
        </p:txBody>
      </p:sp>
      <p:sp>
        <p:nvSpPr>
          <p:cNvPr id="5" name="Footer Placeholder 4">
            <a:extLst>
              <a:ext uri="{FF2B5EF4-FFF2-40B4-BE49-F238E27FC236}">
                <a16:creationId xmlns:a16="http://schemas.microsoft.com/office/drawing/2014/main" id="{5EE028AE-CA28-F0CF-D46A-265D487773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E83E1E-737D-E6FA-0ABE-6B4AB324C4D5}"/>
              </a:ext>
            </a:extLst>
          </p:cNvPr>
          <p:cNvSpPr>
            <a:spLocks noGrp="1"/>
          </p:cNvSpPr>
          <p:nvPr>
            <p:ph type="sldNum" sz="quarter" idx="12"/>
          </p:nvPr>
        </p:nvSpPr>
        <p:spPr/>
        <p:txBody>
          <a:bodyPr/>
          <a:lstStyle/>
          <a:p>
            <a:fld id="{B745987F-7036-B147-97CC-9513E3F5844F}" type="slidenum">
              <a:rPr lang="en-US" smtClean="0"/>
              <a:t>‹#›</a:t>
            </a:fld>
            <a:endParaRPr lang="en-US"/>
          </a:p>
        </p:txBody>
      </p:sp>
    </p:spTree>
    <p:extLst>
      <p:ext uri="{BB962C8B-B14F-4D97-AF65-F5344CB8AC3E}">
        <p14:creationId xmlns:p14="http://schemas.microsoft.com/office/powerpoint/2010/main" val="12805927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F2636-9D19-F9EE-1BAD-36060D5C87A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B156C0FA-69BD-DE3B-5309-DCB2F36AF82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FF4961A8-CAEF-432B-FF58-9D0836998F0D}"/>
              </a:ext>
            </a:extLst>
          </p:cNvPr>
          <p:cNvSpPr>
            <a:spLocks noGrp="1"/>
          </p:cNvSpPr>
          <p:nvPr>
            <p:ph type="dt" sz="half" idx="10"/>
          </p:nvPr>
        </p:nvSpPr>
        <p:spPr/>
        <p:txBody>
          <a:bodyPr/>
          <a:lstStyle/>
          <a:p>
            <a:fld id="{0F54BA43-35BD-AE46-BC07-7421C90D6F53}" type="datetimeFigureOut">
              <a:rPr lang="en-US" smtClean="0"/>
              <a:t>6/12/25</a:t>
            </a:fld>
            <a:endParaRPr lang="en-US"/>
          </a:p>
        </p:txBody>
      </p:sp>
      <p:sp>
        <p:nvSpPr>
          <p:cNvPr id="5" name="Footer Placeholder 4">
            <a:extLst>
              <a:ext uri="{FF2B5EF4-FFF2-40B4-BE49-F238E27FC236}">
                <a16:creationId xmlns:a16="http://schemas.microsoft.com/office/drawing/2014/main" id="{10565B06-9F42-E951-4691-248F648807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2B0A75-2731-BC12-AF7B-A98C78A53F24}"/>
              </a:ext>
            </a:extLst>
          </p:cNvPr>
          <p:cNvSpPr>
            <a:spLocks noGrp="1"/>
          </p:cNvSpPr>
          <p:nvPr>
            <p:ph type="sldNum" sz="quarter" idx="12"/>
          </p:nvPr>
        </p:nvSpPr>
        <p:spPr/>
        <p:txBody>
          <a:bodyPr/>
          <a:lstStyle/>
          <a:p>
            <a:fld id="{B745987F-7036-B147-97CC-9513E3F5844F}" type="slidenum">
              <a:rPr lang="en-US" smtClean="0"/>
              <a:t>‹#›</a:t>
            </a:fld>
            <a:endParaRPr lang="en-US"/>
          </a:p>
        </p:txBody>
      </p:sp>
    </p:spTree>
    <p:extLst>
      <p:ext uri="{BB962C8B-B14F-4D97-AF65-F5344CB8AC3E}">
        <p14:creationId xmlns:p14="http://schemas.microsoft.com/office/powerpoint/2010/main" val="40719018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9B81B-6790-909E-889D-6D7B6DCCF841}"/>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33B0535-7958-A57E-8742-7E6DEBAA8412}"/>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7DC9BF39-0428-4F62-26F0-CD60124EB33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CD5EA09D-ECE7-CAB6-9046-0EC478F47144}"/>
              </a:ext>
            </a:extLst>
          </p:cNvPr>
          <p:cNvSpPr>
            <a:spLocks noGrp="1"/>
          </p:cNvSpPr>
          <p:nvPr>
            <p:ph type="dt" sz="half" idx="10"/>
          </p:nvPr>
        </p:nvSpPr>
        <p:spPr/>
        <p:txBody>
          <a:bodyPr/>
          <a:lstStyle/>
          <a:p>
            <a:fld id="{0F54BA43-35BD-AE46-BC07-7421C90D6F53}" type="datetimeFigureOut">
              <a:rPr lang="en-US" smtClean="0"/>
              <a:t>6/12/25</a:t>
            </a:fld>
            <a:endParaRPr lang="en-US"/>
          </a:p>
        </p:txBody>
      </p:sp>
      <p:sp>
        <p:nvSpPr>
          <p:cNvPr id="6" name="Footer Placeholder 5">
            <a:extLst>
              <a:ext uri="{FF2B5EF4-FFF2-40B4-BE49-F238E27FC236}">
                <a16:creationId xmlns:a16="http://schemas.microsoft.com/office/drawing/2014/main" id="{251D3B19-63A7-D0A7-2826-53AB3CDD6A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74FF7B-EDB6-9602-D87B-EF77AF694234}"/>
              </a:ext>
            </a:extLst>
          </p:cNvPr>
          <p:cNvSpPr>
            <a:spLocks noGrp="1"/>
          </p:cNvSpPr>
          <p:nvPr>
            <p:ph type="sldNum" sz="quarter" idx="12"/>
          </p:nvPr>
        </p:nvSpPr>
        <p:spPr/>
        <p:txBody>
          <a:bodyPr/>
          <a:lstStyle/>
          <a:p>
            <a:fld id="{B745987F-7036-B147-97CC-9513E3F5844F}" type="slidenum">
              <a:rPr lang="en-US" smtClean="0"/>
              <a:t>‹#›</a:t>
            </a:fld>
            <a:endParaRPr lang="en-US"/>
          </a:p>
        </p:txBody>
      </p:sp>
    </p:spTree>
    <p:extLst>
      <p:ext uri="{BB962C8B-B14F-4D97-AF65-F5344CB8AC3E}">
        <p14:creationId xmlns:p14="http://schemas.microsoft.com/office/powerpoint/2010/main" val="16207112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7F8D9-B5E7-A097-2281-7ABE87857E3D}"/>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01C25D0-E945-44F5-1AF6-C64036EDAF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7D291881-2BF2-610B-0475-A279D9FD476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79537D68-791F-CC30-DDE9-44BA138752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D0CA2CB-337F-B466-0AD7-990ED561DC9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CFE56EDF-009E-927B-5190-5B46CCA44E52}"/>
              </a:ext>
            </a:extLst>
          </p:cNvPr>
          <p:cNvSpPr>
            <a:spLocks noGrp="1"/>
          </p:cNvSpPr>
          <p:nvPr>
            <p:ph type="dt" sz="half" idx="10"/>
          </p:nvPr>
        </p:nvSpPr>
        <p:spPr/>
        <p:txBody>
          <a:bodyPr/>
          <a:lstStyle/>
          <a:p>
            <a:fld id="{0F54BA43-35BD-AE46-BC07-7421C90D6F53}" type="datetimeFigureOut">
              <a:rPr lang="en-US" smtClean="0"/>
              <a:t>6/12/25</a:t>
            </a:fld>
            <a:endParaRPr lang="en-US"/>
          </a:p>
        </p:txBody>
      </p:sp>
      <p:sp>
        <p:nvSpPr>
          <p:cNvPr id="8" name="Footer Placeholder 7">
            <a:extLst>
              <a:ext uri="{FF2B5EF4-FFF2-40B4-BE49-F238E27FC236}">
                <a16:creationId xmlns:a16="http://schemas.microsoft.com/office/drawing/2014/main" id="{0B373E81-4393-9527-E8ED-C91B205F236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7A66DE1-22CB-8485-62FC-D1D5E5CFD9FC}"/>
              </a:ext>
            </a:extLst>
          </p:cNvPr>
          <p:cNvSpPr>
            <a:spLocks noGrp="1"/>
          </p:cNvSpPr>
          <p:nvPr>
            <p:ph type="sldNum" sz="quarter" idx="12"/>
          </p:nvPr>
        </p:nvSpPr>
        <p:spPr/>
        <p:txBody>
          <a:bodyPr/>
          <a:lstStyle/>
          <a:p>
            <a:fld id="{B745987F-7036-B147-97CC-9513E3F5844F}" type="slidenum">
              <a:rPr lang="en-US" smtClean="0"/>
              <a:t>‹#›</a:t>
            </a:fld>
            <a:endParaRPr lang="en-US"/>
          </a:p>
        </p:txBody>
      </p:sp>
    </p:spTree>
    <p:extLst>
      <p:ext uri="{BB962C8B-B14F-4D97-AF65-F5344CB8AC3E}">
        <p14:creationId xmlns:p14="http://schemas.microsoft.com/office/powerpoint/2010/main" val="23178233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3CB81-A545-F27F-EA0E-9A5DC2D9C465}"/>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2630B407-5F4E-F991-1D77-91C3913034D9}"/>
              </a:ext>
            </a:extLst>
          </p:cNvPr>
          <p:cNvSpPr>
            <a:spLocks noGrp="1"/>
          </p:cNvSpPr>
          <p:nvPr>
            <p:ph type="dt" sz="half" idx="10"/>
          </p:nvPr>
        </p:nvSpPr>
        <p:spPr/>
        <p:txBody>
          <a:bodyPr/>
          <a:lstStyle/>
          <a:p>
            <a:fld id="{0F54BA43-35BD-AE46-BC07-7421C90D6F53}" type="datetimeFigureOut">
              <a:rPr lang="en-US" smtClean="0"/>
              <a:t>6/12/25</a:t>
            </a:fld>
            <a:endParaRPr lang="en-US"/>
          </a:p>
        </p:txBody>
      </p:sp>
      <p:sp>
        <p:nvSpPr>
          <p:cNvPr id="4" name="Footer Placeholder 3">
            <a:extLst>
              <a:ext uri="{FF2B5EF4-FFF2-40B4-BE49-F238E27FC236}">
                <a16:creationId xmlns:a16="http://schemas.microsoft.com/office/drawing/2014/main" id="{1A2E024A-E783-CC68-D835-28E032C1AFB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8D1B66A-C33A-1011-273C-16830148F341}"/>
              </a:ext>
            </a:extLst>
          </p:cNvPr>
          <p:cNvSpPr>
            <a:spLocks noGrp="1"/>
          </p:cNvSpPr>
          <p:nvPr>
            <p:ph type="sldNum" sz="quarter" idx="12"/>
          </p:nvPr>
        </p:nvSpPr>
        <p:spPr/>
        <p:txBody>
          <a:bodyPr/>
          <a:lstStyle/>
          <a:p>
            <a:fld id="{B745987F-7036-B147-97CC-9513E3F5844F}" type="slidenum">
              <a:rPr lang="en-US" smtClean="0"/>
              <a:t>‹#›</a:t>
            </a:fld>
            <a:endParaRPr lang="en-US"/>
          </a:p>
        </p:txBody>
      </p:sp>
    </p:spTree>
    <p:extLst>
      <p:ext uri="{BB962C8B-B14F-4D97-AF65-F5344CB8AC3E}">
        <p14:creationId xmlns:p14="http://schemas.microsoft.com/office/powerpoint/2010/main" val="890150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A04B6E5-58FA-C8FD-0B1D-B069BE20FC23}"/>
              </a:ext>
            </a:extLst>
          </p:cNvPr>
          <p:cNvSpPr>
            <a:spLocks noGrp="1"/>
          </p:cNvSpPr>
          <p:nvPr>
            <p:ph type="dt" sz="half" idx="10"/>
          </p:nvPr>
        </p:nvSpPr>
        <p:spPr/>
        <p:txBody>
          <a:bodyPr/>
          <a:lstStyle/>
          <a:p>
            <a:fld id="{0F54BA43-35BD-AE46-BC07-7421C90D6F53}" type="datetimeFigureOut">
              <a:rPr lang="en-US" smtClean="0"/>
              <a:t>6/12/25</a:t>
            </a:fld>
            <a:endParaRPr lang="en-US"/>
          </a:p>
        </p:txBody>
      </p:sp>
      <p:sp>
        <p:nvSpPr>
          <p:cNvPr id="3" name="Footer Placeholder 2">
            <a:extLst>
              <a:ext uri="{FF2B5EF4-FFF2-40B4-BE49-F238E27FC236}">
                <a16:creationId xmlns:a16="http://schemas.microsoft.com/office/drawing/2014/main" id="{455D39DA-76E6-D558-CD06-05612D18A33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C380454-ED6F-DB76-0555-15D7118E4BA2}"/>
              </a:ext>
            </a:extLst>
          </p:cNvPr>
          <p:cNvSpPr>
            <a:spLocks noGrp="1"/>
          </p:cNvSpPr>
          <p:nvPr>
            <p:ph type="sldNum" sz="quarter" idx="12"/>
          </p:nvPr>
        </p:nvSpPr>
        <p:spPr/>
        <p:txBody>
          <a:bodyPr/>
          <a:lstStyle/>
          <a:p>
            <a:fld id="{B745987F-7036-B147-97CC-9513E3F5844F}" type="slidenum">
              <a:rPr lang="en-US" smtClean="0"/>
              <a:t>‹#›</a:t>
            </a:fld>
            <a:endParaRPr lang="en-US"/>
          </a:p>
        </p:txBody>
      </p:sp>
    </p:spTree>
    <p:extLst>
      <p:ext uri="{BB962C8B-B14F-4D97-AF65-F5344CB8AC3E}">
        <p14:creationId xmlns:p14="http://schemas.microsoft.com/office/powerpoint/2010/main" val="2843866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FD614-CAFC-AA61-9F5C-1F39111FC24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4D96F22C-AE32-50C0-20D5-D00AC37575C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2F6CE5F-BBB5-F968-8FA6-ADBFE330BE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EB9227D-6C48-DC0C-7F4D-6480F203009E}"/>
              </a:ext>
            </a:extLst>
          </p:cNvPr>
          <p:cNvSpPr>
            <a:spLocks noGrp="1"/>
          </p:cNvSpPr>
          <p:nvPr>
            <p:ph type="dt" sz="half" idx="10"/>
          </p:nvPr>
        </p:nvSpPr>
        <p:spPr/>
        <p:txBody>
          <a:bodyPr/>
          <a:lstStyle/>
          <a:p>
            <a:fld id="{0F54BA43-35BD-AE46-BC07-7421C90D6F53}" type="datetimeFigureOut">
              <a:rPr lang="en-US" smtClean="0"/>
              <a:t>6/12/25</a:t>
            </a:fld>
            <a:endParaRPr lang="en-US"/>
          </a:p>
        </p:txBody>
      </p:sp>
      <p:sp>
        <p:nvSpPr>
          <p:cNvPr id="6" name="Footer Placeholder 5">
            <a:extLst>
              <a:ext uri="{FF2B5EF4-FFF2-40B4-BE49-F238E27FC236}">
                <a16:creationId xmlns:a16="http://schemas.microsoft.com/office/drawing/2014/main" id="{6F4A27B9-5DE0-7DAE-3039-CD3B3B0946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B335733-59E7-74C3-780A-1668CE522E73}"/>
              </a:ext>
            </a:extLst>
          </p:cNvPr>
          <p:cNvSpPr>
            <a:spLocks noGrp="1"/>
          </p:cNvSpPr>
          <p:nvPr>
            <p:ph type="sldNum" sz="quarter" idx="12"/>
          </p:nvPr>
        </p:nvSpPr>
        <p:spPr/>
        <p:txBody>
          <a:bodyPr/>
          <a:lstStyle/>
          <a:p>
            <a:fld id="{B745987F-7036-B147-97CC-9513E3F5844F}" type="slidenum">
              <a:rPr lang="en-US" smtClean="0"/>
              <a:t>‹#›</a:t>
            </a:fld>
            <a:endParaRPr lang="en-US"/>
          </a:p>
        </p:txBody>
      </p:sp>
    </p:spTree>
    <p:extLst>
      <p:ext uri="{BB962C8B-B14F-4D97-AF65-F5344CB8AC3E}">
        <p14:creationId xmlns:p14="http://schemas.microsoft.com/office/powerpoint/2010/main" val="1889558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D59E0-0FD8-6988-E91E-54E35FFFB81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AA8EBCF6-F3CC-CBCF-3ED7-F825F2FEC53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17DF298-16F9-4945-5CFF-D153938284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E107F6B-F75D-DEBC-B2CE-A65B6178E212}"/>
              </a:ext>
            </a:extLst>
          </p:cNvPr>
          <p:cNvSpPr>
            <a:spLocks noGrp="1"/>
          </p:cNvSpPr>
          <p:nvPr>
            <p:ph type="dt" sz="half" idx="10"/>
          </p:nvPr>
        </p:nvSpPr>
        <p:spPr/>
        <p:txBody>
          <a:bodyPr/>
          <a:lstStyle/>
          <a:p>
            <a:fld id="{0F54BA43-35BD-AE46-BC07-7421C90D6F53}" type="datetimeFigureOut">
              <a:rPr lang="en-US" smtClean="0"/>
              <a:t>6/12/25</a:t>
            </a:fld>
            <a:endParaRPr lang="en-US"/>
          </a:p>
        </p:txBody>
      </p:sp>
      <p:sp>
        <p:nvSpPr>
          <p:cNvPr id="6" name="Footer Placeholder 5">
            <a:extLst>
              <a:ext uri="{FF2B5EF4-FFF2-40B4-BE49-F238E27FC236}">
                <a16:creationId xmlns:a16="http://schemas.microsoft.com/office/drawing/2014/main" id="{931D4272-06AC-18D0-D013-0FF0ACE675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EB2F32-D4C5-B75D-35ED-B0B9A3D72C5E}"/>
              </a:ext>
            </a:extLst>
          </p:cNvPr>
          <p:cNvSpPr>
            <a:spLocks noGrp="1"/>
          </p:cNvSpPr>
          <p:nvPr>
            <p:ph type="sldNum" sz="quarter" idx="12"/>
          </p:nvPr>
        </p:nvSpPr>
        <p:spPr/>
        <p:txBody>
          <a:bodyPr/>
          <a:lstStyle/>
          <a:p>
            <a:fld id="{B745987F-7036-B147-97CC-9513E3F5844F}" type="slidenum">
              <a:rPr lang="en-US" smtClean="0"/>
              <a:t>‹#›</a:t>
            </a:fld>
            <a:endParaRPr lang="en-US"/>
          </a:p>
        </p:txBody>
      </p:sp>
    </p:spTree>
    <p:extLst>
      <p:ext uri="{BB962C8B-B14F-4D97-AF65-F5344CB8AC3E}">
        <p14:creationId xmlns:p14="http://schemas.microsoft.com/office/powerpoint/2010/main" val="21402116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E40D4-2F3D-5CA0-612C-FEAA8844CDE2}"/>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1F1FC6B-8AB3-3324-FBCA-B4F8CDD3AC34}"/>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4C06013-DA5F-3506-61B6-F303991C8161}"/>
              </a:ext>
            </a:extLst>
          </p:cNvPr>
          <p:cNvSpPr>
            <a:spLocks noGrp="1"/>
          </p:cNvSpPr>
          <p:nvPr>
            <p:ph type="dt" sz="half" idx="10"/>
          </p:nvPr>
        </p:nvSpPr>
        <p:spPr/>
        <p:txBody>
          <a:bodyPr/>
          <a:lstStyle/>
          <a:p>
            <a:fld id="{0F54BA43-35BD-AE46-BC07-7421C90D6F53}" type="datetimeFigureOut">
              <a:rPr lang="en-US" smtClean="0"/>
              <a:t>6/12/25</a:t>
            </a:fld>
            <a:endParaRPr lang="en-US"/>
          </a:p>
        </p:txBody>
      </p:sp>
      <p:sp>
        <p:nvSpPr>
          <p:cNvPr id="5" name="Footer Placeholder 4">
            <a:extLst>
              <a:ext uri="{FF2B5EF4-FFF2-40B4-BE49-F238E27FC236}">
                <a16:creationId xmlns:a16="http://schemas.microsoft.com/office/drawing/2014/main" id="{0513D6EF-8E87-51FB-ACE2-236DBBF36B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088B48-88A2-E200-82F4-047DBBF32CB8}"/>
              </a:ext>
            </a:extLst>
          </p:cNvPr>
          <p:cNvSpPr>
            <a:spLocks noGrp="1"/>
          </p:cNvSpPr>
          <p:nvPr>
            <p:ph type="sldNum" sz="quarter" idx="12"/>
          </p:nvPr>
        </p:nvSpPr>
        <p:spPr/>
        <p:txBody>
          <a:bodyPr/>
          <a:lstStyle/>
          <a:p>
            <a:fld id="{B745987F-7036-B147-97CC-9513E3F5844F}" type="slidenum">
              <a:rPr lang="en-US" smtClean="0"/>
              <a:t>‹#›</a:t>
            </a:fld>
            <a:endParaRPr lang="en-US"/>
          </a:p>
        </p:txBody>
      </p:sp>
    </p:spTree>
    <p:extLst>
      <p:ext uri="{BB962C8B-B14F-4D97-AF65-F5344CB8AC3E}">
        <p14:creationId xmlns:p14="http://schemas.microsoft.com/office/powerpoint/2010/main" val="36506935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EC275F6-EC97-3AA6-19E6-37DB5FF8267E}"/>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682E7294-CBE5-22BC-494D-DF57E68A1E27}"/>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9EC4721-0BC2-9FBB-F667-2997AD57247C}"/>
              </a:ext>
            </a:extLst>
          </p:cNvPr>
          <p:cNvSpPr>
            <a:spLocks noGrp="1"/>
          </p:cNvSpPr>
          <p:nvPr>
            <p:ph type="dt" sz="half" idx="10"/>
          </p:nvPr>
        </p:nvSpPr>
        <p:spPr/>
        <p:txBody>
          <a:bodyPr/>
          <a:lstStyle/>
          <a:p>
            <a:fld id="{0F54BA43-35BD-AE46-BC07-7421C90D6F53}" type="datetimeFigureOut">
              <a:rPr lang="en-US" smtClean="0"/>
              <a:t>6/12/25</a:t>
            </a:fld>
            <a:endParaRPr lang="en-US"/>
          </a:p>
        </p:txBody>
      </p:sp>
      <p:sp>
        <p:nvSpPr>
          <p:cNvPr id="5" name="Footer Placeholder 4">
            <a:extLst>
              <a:ext uri="{FF2B5EF4-FFF2-40B4-BE49-F238E27FC236}">
                <a16:creationId xmlns:a16="http://schemas.microsoft.com/office/drawing/2014/main" id="{FF2F6F30-4C17-B79B-D3EC-F64959137F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52A50A-B7CB-8745-649C-909D9ECFFE19}"/>
              </a:ext>
            </a:extLst>
          </p:cNvPr>
          <p:cNvSpPr>
            <a:spLocks noGrp="1"/>
          </p:cNvSpPr>
          <p:nvPr>
            <p:ph type="sldNum" sz="quarter" idx="12"/>
          </p:nvPr>
        </p:nvSpPr>
        <p:spPr/>
        <p:txBody>
          <a:bodyPr/>
          <a:lstStyle/>
          <a:p>
            <a:fld id="{B745987F-7036-B147-97CC-9513E3F5844F}" type="slidenum">
              <a:rPr lang="en-US" smtClean="0"/>
              <a:t>‹#›</a:t>
            </a:fld>
            <a:endParaRPr lang="en-US"/>
          </a:p>
        </p:txBody>
      </p:sp>
    </p:spTree>
    <p:extLst>
      <p:ext uri="{BB962C8B-B14F-4D97-AF65-F5344CB8AC3E}">
        <p14:creationId xmlns:p14="http://schemas.microsoft.com/office/powerpoint/2010/main" val="40261527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C9BCB9-C0EF-C4C1-DDA3-FB85DC7A47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4022B30-292B-4FF4-44DC-6DA4F002C8A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69E220C-8A0C-5D86-79A7-9601F505C26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F54BA43-35BD-AE46-BC07-7421C90D6F53}" type="datetimeFigureOut">
              <a:rPr lang="en-US" smtClean="0"/>
              <a:t>6/12/25</a:t>
            </a:fld>
            <a:endParaRPr lang="en-US"/>
          </a:p>
        </p:txBody>
      </p:sp>
      <p:sp>
        <p:nvSpPr>
          <p:cNvPr id="5" name="Footer Placeholder 4">
            <a:extLst>
              <a:ext uri="{FF2B5EF4-FFF2-40B4-BE49-F238E27FC236}">
                <a16:creationId xmlns:a16="http://schemas.microsoft.com/office/drawing/2014/main" id="{28A6B8C7-AB9E-8237-90FA-CEE4F4BF1C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37A5D68-9527-E05D-B060-5C3E41F323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745987F-7036-B147-97CC-9513E3F5844F}" type="slidenum">
              <a:rPr lang="en-US" smtClean="0"/>
              <a:t>‹#›</a:t>
            </a:fld>
            <a:endParaRPr lang="en-US"/>
          </a:p>
        </p:txBody>
      </p:sp>
    </p:spTree>
    <p:extLst>
      <p:ext uri="{BB962C8B-B14F-4D97-AF65-F5344CB8AC3E}">
        <p14:creationId xmlns:p14="http://schemas.microsoft.com/office/powerpoint/2010/main" val="17873709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4a"/><Relationship Id="rId1" Type="http://schemas.microsoft.com/office/2007/relationships/media" Target="../media/media1.m4a"/><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5" Type="http://schemas.openxmlformats.org/officeDocument/2006/relationships/image" Target="../media/image1.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4a"/><Relationship Id="rId1" Type="http://schemas.microsoft.com/office/2007/relationships/media" Target="../media/media3.m4a"/><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image" Target="../media/image1.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m4a"/><Relationship Id="rId1" Type="http://schemas.microsoft.com/office/2007/relationships/media" Target="../media/media5.m4a"/><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6.m4a"/><Relationship Id="rId1" Type="http://schemas.microsoft.com/office/2007/relationships/media" Target="../media/media6.m4a"/><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7.m4a"/><Relationship Id="rId1" Type="http://schemas.microsoft.com/office/2007/relationships/media" Target="../media/media7.m4a"/><Relationship Id="rId5" Type="http://schemas.openxmlformats.org/officeDocument/2006/relationships/image" Target="../media/image1.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8.m4a"/><Relationship Id="rId1" Type="http://schemas.microsoft.com/office/2007/relationships/media" Target="../media/media8.m4a"/><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9.m4a"/><Relationship Id="rId1" Type="http://schemas.microsoft.com/office/2007/relationships/media" Target="../media/media9.m4a"/><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0.m4a"/><Relationship Id="rId1" Type="http://schemas.microsoft.com/office/2007/relationships/media" Target="../media/media10.m4a"/><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7D298-6927-0CF9-0048-01E1F82D83F0}"/>
              </a:ext>
            </a:extLst>
          </p:cNvPr>
          <p:cNvSpPr>
            <a:spLocks noGrp="1"/>
          </p:cNvSpPr>
          <p:nvPr>
            <p:ph type="title"/>
          </p:nvPr>
        </p:nvSpPr>
        <p:spPr/>
        <p:txBody>
          <a:bodyPr>
            <a:normAutofit/>
          </a:bodyPr>
          <a:lstStyle/>
          <a:p>
            <a:pPr algn="ctr"/>
            <a:r>
              <a:rPr lang="en-AU" sz="3600" b="1" i="1" dirty="0">
                <a:latin typeface="Times New Roman" panose="02020603050405020304" pitchFamily="18" charset="0"/>
                <a:cs typeface="Times New Roman" panose="02020603050405020304" pitchFamily="18" charset="0"/>
              </a:rPr>
              <a:t>Collaborative Filtering Recommender Systems</a:t>
            </a:r>
            <a:endParaRPr lang="en-US" sz="3600" b="1" i="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E9E75D2-8D0D-68DB-54C8-5AD394BA17BE}"/>
              </a:ext>
            </a:extLst>
          </p:cNvPr>
          <p:cNvSpPr>
            <a:spLocks noGrp="1"/>
          </p:cNvSpPr>
          <p:nvPr>
            <p:ph idx="1"/>
          </p:nvPr>
        </p:nvSpPr>
        <p:spPr/>
        <p:txBody>
          <a:bodyPr>
            <a:normAutofit/>
          </a:bodyPr>
          <a:lstStyle/>
          <a:p>
            <a:pPr marL="0" indent="0" algn="ctr">
              <a:buNone/>
            </a:pPr>
            <a:r>
              <a:rPr lang="en-US" sz="2000" i="1" dirty="0">
                <a:latin typeface="Times New Roman" panose="02020603050405020304" pitchFamily="18" charset="0"/>
                <a:cs typeface="Times New Roman" panose="02020603050405020304" pitchFamily="18" charset="0"/>
              </a:rPr>
              <a:t>Assignment – 3</a:t>
            </a:r>
          </a:p>
          <a:p>
            <a:pPr marL="0" indent="0" algn="ctr">
              <a:buNone/>
            </a:pPr>
            <a:r>
              <a:rPr lang="en-AU" sz="2000" i="1" dirty="0">
                <a:latin typeface="Times New Roman" panose="02020603050405020304" pitchFamily="18" charset="0"/>
                <a:cs typeface="Times New Roman" panose="02020603050405020304" pitchFamily="18" charset="0"/>
              </a:rPr>
              <a:t>Task 2 – Presentation</a:t>
            </a:r>
          </a:p>
          <a:p>
            <a:pPr marL="0" indent="0" algn="ctr">
              <a:buNone/>
            </a:pPr>
            <a:endParaRPr lang="en-AU" sz="2000" i="1" dirty="0">
              <a:latin typeface="Times New Roman" panose="02020603050405020304" pitchFamily="18" charset="0"/>
              <a:cs typeface="Times New Roman" panose="02020603050405020304" pitchFamily="18" charset="0"/>
            </a:endParaRPr>
          </a:p>
          <a:p>
            <a:pPr marL="0" indent="0" algn="ctr">
              <a:buNone/>
            </a:pPr>
            <a:r>
              <a:rPr lang="en-AU" sz="2000" i="1" dirty="0">
                <a:latin typeface="Times New Roman" panose="02020603050405020304" pitchFamily="18" charset="0"/>
                <a:cs typeface="Times New Roman" panose="02020603050405020304" pitchFamily="18" charset="0"/>
              </a:rPr>
              <a:t>Virajkumar Govindbhai Patel</a:t>
            </a:r>
          </a:p>
          <a:p>
            <a:pPr marL="0" indent="0" algn="ctr">
              <a:buNone/>
            </a:pPr>
            <a:r>
              <a:rPr lang="en-AU" sz="2000" i="1" dirty="0">
                <a:latin typeface="Times New Roman" panose="02020603050405020304" pitchFamily="18" charset="0"/>
                <a:cs typeface="Times New Roman" panose="02020603050405020304" pitchFamily="18" charset="0"/>
              </a:rPr>
              <a:t>S4126405</a:t>
            </a:r>
          </a:p>
          <a:p>
            <a:pPr marL="0" indent="0" algn="ctr">
              <a:buNone/>
            </a:pPr>
            <a:endParaRPr lang="en-AU" sz="2000" i="1" dirty="0">
              <a:latin typeface="Times New Roman" panose="02020603050405020304" pitchFamily="18" charset="0"/>
              <a:cs typeface="Times New Roman" panose="02020603050405020304" pitchFamily="18" charset="0"/>
            </a:endParaRPr>
          </a:p>
          <a:p>
            <a:pPr marL="0" indent="0" algn="ctr">
              <a:buNone/>
            </a:pPr>
            <a:r>
              <a:rPr lang="en-AU" sz="2000" i="1" dirty="0">
                <a:latin typeface="Times New Roman" panose="02020603050405020304" pitchFamily="18" charset="0"/>
                <a:cs typeface="Times New Roman" panose="02020603050405020304" pitchFamily="18" charset="0"/>
              </a:rPr>
              <a:t>COSC 2670/2738</a:t>
            </a:r>
          </a:p>
          <a:p>
            <a:pPr marL="0" indent="0" algn="ctr">
              <a:buNone/>
            </a:pPr>
            <a:r>
              <a:rPr lang="en-AU" sz="2000" i="1" dirty="0">
                <a:latin typeface="Times New Roman" panose="02020603050405020304" pitchFamily="18" charset="0"/>
                <a:cs typeface="Times New Roman" panose="02020603050405020304" pitchFamily="18" charset="0"/>
              </a:rPr>
              <a:t>Practical Data Science with Python</a:t>
            </a:r>
          </a:p>
          <a:p>
            <a:pPr marL="0" indent="0" algn="ctr">
              <a:buNone/>
            </a:pPr>
            <a:endParaRPr lang="en-AU" sz="2000" i="1" dirty="0">
              <a:latin typeface="Times New Roman" panose="02020603050405020304" pitchFamily="18" charset="0"/>
              <a:cs typeface="Times New Roman" panose="02020603050405020304" pitchFamily="18" charset="0"/>
            </a:endParaRPr>
          </a:p>
          <a:p>
            <a:pPr marL="0" indent="0" algn="ctr">
              <a:buNone/>
            </a:pPr>
            <a:r>
              <a:rPr lang="en-AU" sz="2000" i="1" dirty="0">
                <a:latin typeface="Times New Roman" panose="02020603050405020304" pitchFamily="18" charset="0"/>
                <a:cs typeface="Times New Roman" panose="02020603050405020304" pitchFamily="18" charset="0"/>
              </a:rPr>
              <a:t>13</a:t>
            </a:r>
            <a:r>
              <a:rPr lang="en-AU" sz="2000" i="1" baseline="30000" dirty="0">
                <a:latin typeface="Times New Roman" panose="02020603050405020304" pitchFamily="18" charset="0"/>
                <a:cs typeface="Times New Roman" panose="02020603050405020304" pitchFamily="18" charset="0"/>
              </a:rPr>
              <a:t>th</a:t>
            </a:r>
            <a:r>
              <a:rPr lang="en-AU" sz="2000" i="1" dirty="0">
                <a:latin typeface="Times New Roman" panose="02020603050405020304" pitchFamily="18" charset="0"/>
                <a:cs typeface="Times New Roman" panose="02020603050405020304" pitchFamily="18" charset="0"/>
              </a:rPr>
              <a:t> June 2025</a:t>
            </a:r>
            <a:endParaRPr lang="en-US" sz="2000" i="1" dirty="0">
              <a:latin typeface="Times New Roman" panose="02020603050405020304" pitchFamily="18" charset="0"/>
              <a:cs typeface="Times New Roman" panose="02020603050405020304" pitchFamily="18" charset="0"/>
            </a:endParaRPr>
          </a:p>
        </p:txBody>
      </p:sp>
      <p:pic>
        <p:nvPicPr>
          <p:cNvPr id="6" name="Audio Recording 13 Jun 2025 at 09:57:37">
            <a:hlinkClick r:id="" action="ppaction://media"/>
            <a:extLst>
              <a:ext uri="{FF2B5EF4-FFF2-40B4-BE49-F238E27FC236}">
                <a16:creationId xmlns:a16="http://schemas.microsoft.com/office/drawing/2014/main" id="{0C18E382-09E9-2411-5E31-496474B9028D}"/>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5689600" y="3022600"/>
            <a:ext cx="812800" cy="812800"/>
          </a:xfrm>
          <a:prstGeom prst="rect">
            <a:avLst/>
          </a:prstGeom>
        </p:spPr>
      </p:pic>
    </p:spTree>
    <p:extLst>
      <p:ext uri="{BB962C8B-B14F-4D97-AF65-F5344CB8AC3E}">
        <p14:creationId xmlns:p14="http://schemas.microsoft.com/office/powerpoint/2010/main" val="2932794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2828"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6"/>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FC87B-2723-691F-E740-6203E5641793}"/>
              </a:ext>
            </a:extLst>
          </p:cNvPr>
          <p:cNvSpPr>
            <a:spLocks noGrp="1"/>
          </p:cNvSpPr>
          <p:nvPr>
            <p:ph type="title"/>
          </p:nvPr>
        </p:nvSpPr>
        <p:spPr/>
        <p:txBody>
          <a:bodyPr>
            <a:normAutofit/>
          </a:bodyPr>
          <a:lstStyle/>
          <a:p>
            <a:pPr algn="ctr"/>
            <a:r>
              <a:rPr lang="en-AU" sz="3200" b="1" dirty="0"/>
              <a:t>Dataset &amp; Problem Statement</a:t>
            </a:r>
            <a:endParaRPr lang="en-US" sz="3200" b="1" dirty="0"/>
          </a:p>
        </p:txBody>
      </p:sp>
      <p:sp>
        <p:nvSpPr>
          <p:cNvPr id="3" name="Content Placeholder 2">
            <a:extLst>
              <a:ext uri="{FF2B5EF4-FFF2-40B4-BE49-F238E27FC236}">
                <a16:creationId xmlns:a16="http://schemas.microsoft.com/office/drawing/2014/main" id="{2C74D526-837A-675A-2D5B-F66B7C122EFA}"/>
              </a:ext>
            </a:extLst>
          </p:cNvPr>
          <p:cNvSpPr>
            <a:spLocks noGrp="1"/>
          </p:cNvSpPr>
          <p:nvPr>
            <p:ph idx="1"/>
          </p:nvPr>
        </p:nvSpPr>
        <p:spPr>
          <a:xfrm>
            <a:off x="838200" y="1543051"/>
            <a:ext cx="10515600" cy="4720590"/>
          </a:xfrm>
        </p:spPr>
        <p:txBody>
          <a:bodyPr>
            <a:normAutofit fontScale="92500" lnSpcReduction="10000"/>
          </a:bodyPr>
          <a:lstStyle/>
          <a:p>
            <a:pPr>
              <a:buFont typeface="Wingdings" pitchFamily="2" charset="2"/>
              <a:buChar char="§"/>
            </a:pPr>
            <a:r>
              <a:rPr lang="en-US" dirty="0"/>
              <a:t>Dataset:</a:t>
            </a:r>
          </a:p>
          <a:p>
            <a:pPr algn="just"/>
            <a:r>
              <a:rPr lang="en-AU" sz="2000" dirty="0"/>
              <a:t>I used the provided ml-100k  dataset, which contains over 100,000 ratings from 943 users on 1682 movies.</a:t>
            </a:r>
          </a:p>
          <a:p>
            <a:endParaRPr lang="en-US" sz="2000" dirty="0"/>
          </a:p>
          <a:p>
            <a:pPr marL="0" indent="0">
              <a:buNone/>
            </a:pPr>
            <a:r>
              <a:rPr lang="en-US" dirty="0"/>
              <a:t>  </a:t>
            </a:r>
          </a:p>
          <a:p>
            <a:pPr marL="0" indent="0">
              <a:buNone/>
            </a:pPr>
            <a:endParaRPr lang="en-US" dirty="0"/>
          </a:p>
          <a:p>
            <a:pPr marL="0" indent="0">
              <a:buNone/>
            </a:pPr>
            <a:endParaRPr lang="en-US" dirty="0"/>
          </a:p>
          <a:p>
            <a:pPr>
              <a:buFont typeface="Wingdings" pitchFamily="2" charset="2"/>
              <a:buChar char="§"/>
            </a:pPr>
            <a:endParaRPr lang="en-US" dirty="0"/>
          </a:p>
          <a:p>
            <a:pPr>
              <a:buFont typeface="Wingdings" pitchFamily="2" charset="2"/>
              <a:buChar char="§"/>
            </a:pPr>
            <a:endParaRPr lang="en-US" dirty="0"/>
          </a:p>
          <a:p>
            <a:pPr>
              <a:buFont typeface="Wingdings" pitchFamily="2" charset="2"/>
              <a:buChar char="§"/>
            </a:pPr>
            <a:r>
              <a:rPr lang="en-US" dirty="0"/>
              <a:t>Problem Statement:</a:t>
            </a:r>
          </a:p>
          <a:p>
            <a:pPr algn="just"/>
            <a:r>
              <a:rPr lang="en-US" sz="2000" dirty="0"/>
              <a:t>Estimating the current user's level of interest in a target item, usually represented as a predicted rating, is the fundamental challenge of recommender systems.</a:t>
            </a:r>
          </a:p>
          <a:p>
            <a:pPr marL="0" indent="0">
              <a:buNone/>
            </a:pPr>
            <a:endParaRPr lang="en-US" dirty="0"/>
          </a:p>
        </p:txBody>
      </p:sp>
      <p:pic>
        <p:nvPicPr>
          <p:cNvPr id="7" name="Picture 6" descr="A screenshot of a table&#10;&#10;AI-generated content may be incorrect.">
            <a:extLst>
              <a:ext uri="{FF2B5EF4-FFF2-40B4-BE49-F238E27FC236}">
                <a16:creationId xmlns:a16="http://schemas.microsoft.com/office/drawing/2014/main" id="{8F2A28E6-6118-DE84-B088-2FE52F1AFAF6}"/>
              </a:ext>
            </a:extLst>
          </p:cNvPr>
          <p:cNvPicPr>
            <a:picLocks noChangeAspect="1"/>
          </p:cNvPicPr>
          <p:nvPr/>
        </p:nvPicPr>
        <p:blipFill>
          <a:blip r:embed="rId4"/>
          <a:stretch>
            <a:fillRect/>
          </a:stretch>
        </p:blipFill>
        <p:spPr>
          <a:xfrm>
            <a:off x="4118610" y="2594292"/>
            <a:ext cx="3954780" cy="2184400"/>
          </a:xfrm>
          <a:prstGeom prst="rect">
            <a:avLst/>
          </a:prstGeom>
        </p:spPr>
      </p:pic>
      <p:pic>
        <p:nvPicPr>
          <p:cNvPr id="8" name="Audio Recording 13 Jun 2025 at 09:59:18">
            <a:hlinkClick r:id="" action="ppaction://media"/>
            <a:extLst>
              <a:ext uri="{FF2B5EF4-FFF2-40B4-BE49-F238E27FC236}">
                <a16:creationId xmlns:a16="http://schemas.microsoft.com/office/drawing/2014/main" id="{AE0DEF46-14BC-9828-51BD-F2257D96B3EC}"/>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5689600" y="3022600"/>
            <a:ext cx="812800" cy="812800"/>
          </a:xfrm>
          <a:prstGeom prst="rect">
            <a:avLst/>
          </a:prstGeom>
        </p:spPr>
      </p:pic>
    </p:spTree>
    <p:extLst>
      <p:ext uri="{BB962C8B-B14F-4D97-AF65-F5344CB8AC3E}">
        <p14:creationId xmlns:p14="http://schemas.microsoft.com/office/powerpoint/2010/main" val="3689785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9468"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8"/>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C1B1E-217E-3DDE-633F-C2ABA4054734}"/>
              </a:ext>
            </a:extLst>
          </p:cNvPr>
          <p:cNvSpPr>
            <a:spLocks noGrp="1"/>
          </p:cNvSpPr>
          <p:nvPr>
            <p:ph type="title"/>
          </p:nvPr>
        </p:nvSpPr>
        <p:spPr/>
        <p:txBody>
          <a:bodyPr>
            <a:normAutofit/>
          </a:bodyPr>
          <a:lstStyle/>
          <a:p>
            <a:pPr algn="ctr"/>
            <a:r>
              <a:rPr lang="en-US" sz="3200" b="1" dirty="0"/>
              <a:t>Methods Overview</a:t>
            </a:r>
          </a:p>
        </p:txBody>
      </p:sp>
      <p:graphicFrame>
        <p:nvGraphicFramePr>
          <p:cNvPr id="4" name="Content Placeholder 3">
            <a:extLst>
              <a:ext uri="{FF2B5EF4-FFF2-40B4-BE49-F238E27FC236}">
                <a16:creationId xmlns:a16="http://schemas.microsoft.com/office/drawing/2014/main" id="{CBA16F00-CB0B-AD10-8218-A59074193F45}"/>
              </a:ext>
            </a:extLst>
          </p:cNvPr>
          <p:cNvGraphicFramePr>
            <a:graphicFrameLocks noGrp="1"/>
          </p:cNvGraphicFramePr>
          <p:nvPr>
            <p:ph idx="1"/>
            <p:extLst>
              <p:ext uri="{D42A27DB-BD31-4B8C-83A1-F6EECF244321}">
                <p14:modId xmlns:p14="http://schemas.microsoft.com/office/powerpoint/2010/main" val="698786290"/>
              </p:ext>
            </p:extLst>
          </p:nvPr>
        </p:nvGraphicFramePr>
        <p:xfrm>
          <a:off x="1674495" y="2160270"/>
          <a:ext cx="8843010" cy="2788920"/>
        </p:xfrm>
        <a:graphic>
          <a:graphicData uri="http://schemas.openxmlformats.org/drawingml/2006/table">
            <a:tbl>
              <a:tblPr firstRow="1" bandRow="1">
                <a:tableStyleId>{7E9639D4-E3E2-4D34-9284-5A2195B3D0D7}</a:tableStyleId>
              </a:tblPr>
              <a:tblGrid>
                <a:gridCol w="4421505">
                  <a:extLst>
                    <a:ext uri="{9D8B030D-6E8A-4147-A177-3AD203B41FA5}">
                      <a16:colId xmlns:a16="http://schemas.microsoft.com/office/drawing/2014/main" val="1289133008"/>
                    </a:ext>
                  </a:extLst>
                </a:gridCol>
                <a:gridCol w="4421505">
                  <a:extLst>
                    <a:ext uri="{9D8B030D-6E8A-4147-A177-3AD203B41FA5}">
                      <a16:colId xmlns:a16="http://schemas.microsoft.com/office/drawing/2014/main" val="479882066"/>
                    </a:ext>
                  </a:extLst>
                </a:gridCol>
              </a:tblGrid>
              <a:tr h="398674">
                <a:tc>
                  <a:txBody>
                    <a:bodyPr/>
                    <a:lstStyle/>
                    <a:p>
                      <a:pPr algn="l">
                        <a:spcAft>
                          <a:spcPts val="1200"/>
                        </a:spcAft>
                      </a:pPr>
                      <a:r>
                        <a:rPr lang="en-AU" b="1" dirty="0">
                          <a:solidFill>
                            <a:schemeClr val="bg2"/>
                          </a:solidFill>
                          <a:effectLst/>
                        </a:rPr>
                        <a:t>Method</a:t>
                      </a:r>
                    </a:p>
                  </a:txBody>
                  <a:tcPr marR="95250" marT="95250" marB="95250" anchor="ctr">
                    <a:lnL w="12700" cap="flat" cmpd="sng" algn="ctr">
                      <a:noFill/>
                      <a:prstDash val="solid"/>
                      <a:miter lim="800000"/>
                    </a:lnL>
                  </a:tcPr>
                </a:tc>
                <a:tc>
                  <a:txBody>
                    <a:bodyPr/>
                    <a:lstStyle/>
                    <a:p>
                      <a:pPr algn="l">
                        <a:spcAft>
                          <a:spcPts val="1200"/>
                        </a:spcAft>
                      </a:pPr>
                      <a:r>
                        <a:rPr lang="en-AU" b="1" dirty="0">
                          <a:solidFill>
                            <a:schemeClr val="bg2"/>
                          </a:solidFill>
                          <a:effectLst/>
                        </a:rPr>
                        <a:t>Description</a:t>
                      </a:r>
                    </a:p>
                  </a:txBody>
                  <a:tcPr marL="95250" marR="95250" marT="95250" marB="95250" anchor="ctr">
                    <a:lnR w="12700" cap="flat" cmpd="sng" algn="ctr">
                      <a:noFill/>
                      <a:prstDash val="solid"/>
                      <a:miter lim="800000"/>
                    </a:lnR>
                  </a:tcPr>
                </a:tc>
                <a:extLst>
                  <a:ext uri="{0D108BD9-81ED-4DB2-BD59-A6C34878D82A}">
                    <a16:rowId xmlns:a16="http://schemas.microsoft.com/office/drawing/2014/main" val="4163977345"/>
                  </a:ext>
                </a:extLst>
              </a:tr>
              <a:tr h="398674">
                <a:tc>
                  <a:txBody>
                    <a:bodyPr/>
                    <a:lstStyle/>
                    <a:p>
                      <a:pPr>
                        <a:spcAft>
                          <a:spcPts val="1200"/>
                        </a:spcAft>
                      </a:pPr>
                      <a:r>
                        <a:rPr lang="en-AU" dirty="0">
                          <a:effectLst/>
                        </a:rPr>
                        <a:t>1. User Average</a:t>
                      </a:r>
                    </a:p>
                  </a:txBody>
                  <a:tcPr marR="95250" marT="95250" marB="95250" anchor="ctr">
                    <a:lnL w="12700" cap="flat" cmpd="sng" algn="ctr">
                      <a:noFill/>
                      <a:prstDash val="solid"/>
                      <a:miter lim="800000"/>
                    </a:lnL>
                  </a:tcPr>
                </a:tc>
                <a:tc>
                  <a:txBody>
                    <a:bodyPr/>
                    <a:lstStyle/>
                    <a:p>
                      <a:pPr>
                        <a:spcAft>
                          <a:spcPts val="1200"/>
                        </a:spcAft>
                      </a:pPr>
                      <a:r>
                        <a:rPr lang="en-AU" dirty="0">
                          <a:effectLst/>
                        </a:rPr>
                        <a:t>Predicts based on a user’s average rating.</a:t>
                      </a:r>
                    </a:p>
                  </a:txBody>
                  <a:tcPr marL="95250" marR="95250" marT="95250" marB="95250" anchor="ctr">
                    <a:lnR w="12700" cap="flat" cmpd="sng" algn="ctr">
                      <a:noFill/>
                      <a:prstDash val="solid"/>
                      <a:miter lim="800000"/>
                    </a:lnR>
                  </a:tcPr>
                </a:tc>
                <a:extLst>
                  <a:ext uri="{0D108BD9-81ED-4DB2-BD59-A6C34878D82A}">
                    <a16:rowId xmlns:a16="http://schemas.microsoft.com/office/drawing/2014/main" val="198422619"/>
                  </a:ext>
                </a:extLst>
              </a:tr>
              <a:tr h="398674">
                <a:tc>
                  <a:txBody>
                    <a:bodyPr/>
                    <a:lstStyle/>
                    <a:p>
                      <a:pPr>
                        <a:spcAft>
                          <a:spcPts val="1200"/>
                        </a:spcAft>
                      </a:pPr>
                      <a:r>
                        <a:rPr lang="en-AU" dirty="0">
                          <a:effectLst/>
                        </a:rPr>
                        <a:t>2. Item Average</a:t>
                      </a:r>
                    </a:p>
                  </a:txBody>
                  <a:tcPr marR="95250" marT="95250" marB="95250" anchor="ctr">
                    <a:lnL w="12700" cap="flat" cmpd="sng" algn="ctr">
                      <a:noFill/>
                      <a:prstDash val="solid"/>
                      <a:miter lim="800000"/>
                    </a:lnL>
                  </a:tcPr>
                </a:tc>
                <a:tc>
                  <a:txBody>
                    <a:bodyPr/>
                    <a:lstStyle/>
                    <a:p>
                      <a:pPr>
                        <a:spcAft>
                          <a:spcPts val="1200"/>
                        </a:spcAft>
                      </a:pPr>
                      <a:r>
                        <a:rPr lang="en-AU" dirty="0">
                          <a:effectLst/>
                        </a:rPr>
                        <a:t>Predicts based on a movie’s average rating.</a:t>
                      </a:r>
                    </a:p>
                  </a:txBody>
                  <a:tcPr marL="95250" marR="95250" marT="95250" marB="95250" anchor="ctr">
                    <a:lnR w="12700" cap="flat" cmpd="sng" algn="ctr">
                      <a:noFill/>
                      <a:prstDash val="solid"/>
                      <a:miter lim="800000"/>
                    </a:lnR>
                  </a:tcPr>
                </a:tc>
                <a:extLst>
                  <a:ext uri="{0D108BD9-81ED-4DB2-BD59-A6C34878D82A}">
                    <a16:rowId xmlns:a16="http://schemas.microsoft.com/office/drawing/2014/main" val="2848590677"/>
                  </a:ext>
                </a:extLst>
              </a:tr>
              <a:tr h="398674">
                <a:tc>
                  <a:txBody>
                    <a:bodyPr/>
                    <a:lstStyle/>
                    <a:p>
                      <a:pPr algn="l">
                        <a:spcAft>
                          <a:spcPts val="1200"/>
                        </a:spcAft>
                      </a:pPr>
                      <a:r>
                        <a:rPr lang="en-AU" dirty="0">
                          <a:effectLst/>
                        </a:rPr>
                        <a:t>3. User KNN</a:t>
                      </a:r>
                    </a:p>
                  </a:txBody>
                  <a:tcPr marR="95250" marT="95250" marB="95250" anchor="ctr">
                    <a:lnL w="12700" cap="flat" cmpd="sng" algn="ctr">
                      <a:noFill/>
                      <a:prstDash val="solid"/>
                      <a:miter lim="800000"/>
                    </a:lnL>
                  </a:tcPr>
                </a:tc>
                <a:tc>
                  <a:txBody>
                    <a:bodyPr/>
                    <a:lstStyle/>
                    <a:p>
                      <a:pPr>
                        <a:spcAft>
                          <a:spcPts val="1200"/>
                        </a:spcAft>
                      </a:pPr>
                      <a:r>
                        <a:rPr lang="en-AU" dirty="0">
                          <a:effectLst/>
                        </a:rPr>
                        <a:t>Uses ratings from similar users.</a:t>
                      </a:r>
                    </a:p>
                  </a:txBody>
                  <a:tcPr marL="95250" marR="95250" marT="95250" marB="95250" anchor="ctr">
                    <a:lnR w="12700" cap="flat" cmpd="sng" algn="ctr">
                      <a:noFill/>
                      <a:prstDash val="solid"/>
                      <a:miter lim="800000"/>
                    </a:lnR>
                  </a:tcPr>
                </a:tc>
                <a:extLst>
                  <a:ext uri="{0D108BD9-81ED-4DB2-BD59-A6C34878D82A}">
                    <a16:rowId xmlns:a16="http://schemas.microsoft.com/office/drawing/2014/main" val="324401122"/>
                  </a:ext>
                </a:extLst>
              </a:tr>
              <a:tr h="398674">
                <a:tc>
                  <a:txBody>
                    <a:bodyPr/>
                    <a:lstStyle/>
                    <a:p>
                      <a:pPr>
                        <a:spcAft>
                          <a:spcPts val="1200"/>
                        </a:spcAft>
                      </a:pPr>
                      <a:r>
                        <a:rPr lang="en-AU">
                          <a:effectLst/>
                        </a:rPr>
                        <a:t>4. Item KNN</a:t>
                      </a:r>
                    </a:p>
                  </a:txBody>
                  <a:tcPr marR="95250" marT="95250" marB="95250" anchor="ctr">
                    <a:lnL w="12700" cap="flat" cmpd="sng" algn="ctr">
                      <a:noFill/>
                      <a:prstDash val="solid"/>
                      <a:miter lim="800000"/>
                    </a:lnL>
                  </a:tcPr>
                </a:tc>
                <a:tc>
                  <a:txBody>
                    <a:bodyPr/>
                    <a:lstStyle/>
                    <a:p>
                      <a:pPr>
                        <a:spcAft>
                          <a:spcPts val="1200"/>
                        </a:spcAft>
                      </a:pPr>
                      <a:r>
                        <a:rPr lang="en-AU" dirty="0">
                          <a:effectLst/>
                        </a:rPr>
                        <a:t>Uses ratings from similar movies.</a:t>
                      </a:r>
                    </a:p>
                  </a:txBody>
                  <a:tcPr marL="95250" marR="95250" marT="95250" marB="95250" anchor="ctr">
                    <a:lnR w="12700" cap="flat" cmpd="sng" algn="ctr">
                      <a:noFill/>
                      <a:prstDash val="solid"/>
                      <a:miter lim="800000"/>
                    </a:lnR>
                  </a:tcPr>
                </a:tc>
                <a:extLst>
                  <a:ext uri="{0D108BD9-81ED-4DB2-BD59-A6C34878D82A}">
                    <a16:rowId xmlns:a16="http://schemas.microsoft.com/office/drawing/2014/main" val="2353253209"/>
                  </a:ext>
                </a:extLst>
              </a:tr>
              <a:tr h="398674">
                <a:tc>
                  <a:txBody>
                    <a:bodyPr/>
                    <a:lstStyle/>
                    <a:p>
                      <a:pPr>
                        <a:spcAft>
                          <a:spcPts val="1200"/>
                        </a:spcAft>
                      </a:pPr>
                      <a:r>
                        <a:rPr lang="en-AU">
                          <a:effectLst/>
                        </a:rPr>
                        <a:t>5. Hybrid</a:t>
                      </a:r>
                    </a:p>
                  </a:txBody>
                  <a:tcPr marR="95250" marT="95250" marB="95250" anchor="ctr">
                    <a:lnL w="12700" cap="flat" cmpd="sng" algn="ctr">
                      <a:noFill/>
                      <a:prstDash val="solid"/>
                      <a:miter lim="800000"/>
                    </a:lnL>
                  </a:tcPr>
                </a:tc>
                <a:tc>
                  <a:txBody>
                    <a:bodyPr/>
                    <a:lstStyle/>
                    <a:p>
                      <a:pPr>
                        <a:spcAft>
                          <a:spcPts val="1200"/>
                        </a:spcAft>
                      </a:pPr>
                      <a:r>
                        <a:rPr lang="en-AU" dirty="0">
                          <a:effectLst/>
                        </a:rPr>
                        <a:t>Combines User KNN and Item KNN.</a:t>
                      </a:r>
                    </a:p>
                  </a:txBody>
                  <a:tcPr marL="95250" marR="95250" marT="95250" marB="95250" anchor="ctr">
                    <a:lnR w="12700" cap="flat" cmpd="sng" algn="ctr">
                      <a:noFill/>
                      <a:prstDash val="solid"/>
                      <a:miter lim="800000"/>
                    </a:lnR>
                  </a:tcPr>
                </a:tc>
                <a:extLst>
                  <a:ext uri="{0D108BD9-81ED-4DB2-BD59-A6C34878D82A}">
                    <a16:rowId xmlns:a16="http://schemas.microsoft.com/office/drawing/2014/main" val="559178197"/>
                  </a:ext>
                </a:extLst>
              </a:tr>
            </a:tbl>
          </a:graphicData>
        </a:graphic>
      </p:graphicFrame>
      <p:pic>
        <p:nvPicPr>
          <p:cNvPr id="5" name="Audio Recording 13 Jun 2025 at 10:00:34">
            <a:hlinkClick r:id="" action="ppaction://media"/>
            <a:extLst>
              <a:ext uri="{FF2B5EF4-FFF2-40B4-BE49-F238E27FC236}">
                <a16:creationId xmlns:a16="http://schemas.microsoft.com/office/drawing/2014/main" id="{AF3BA2EC-DB7B-8F05-CE26-A319122F8C5A}"/>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5689600" y="3022600"/>
            <a:ext cx="812800" cy="812800"/>
          </a:xfrm>
          <a:prstGeom prst="rect">
            <a:avLst/>
          </a:prstGeom>
        </p:spPr>
      </p:pic>
    </p:spTree>
    <p:extLst>
      <p:ext uri="{BB962C8B-B14F-4D97-AF65-F5344CB8AC3E}">
        <p14:creationId xmlns:p14="http://schemas.microsoft.com/office/powerpoint/2010/main" val="2417506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834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5"/>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857D6-726B-CFB2-3DDB-E5CD36F3D1B5}"/>
              </a:ext>
            </a:extLst>
          </p:cNvPr>
          <p:cNvSpPr>
            <a:spLocks noGrp="1"/>
          </p:cNvSpPr>
          <p:nvPr>
            <p:ph type="title"/>
          </p:nvPr>
        </p:nvSpPr>
        <p:spPr/>
        <p:txBody>
          <a:bodyPr>
            <a:normAutofit/>
          </a:bodyPr>
          <a:lstStyle/>
          <a:p>
            <a:pPr algn="ctr"/>
            <a:r>
              <a:rPr lang="en-AU" sz="3200" b="1" dirty="0"/>
              <a:t>Method 1 &amp; 2 – Baseline Approaches</a:t>
            </a:r>
            <a:endParaRPr lang="en-US" sz="3200" b="1" dirty="0"/>
          </a:p>
        </p:txBody>
      </p:sp>
      <p:sp>
        <p:nvSpPr>
          <p:cNvPr id="3" name="Content Placeholder 2">
            <a:extLst>
              <a:ext uri="{FF2B5EF4-FFF2-40B4-BE49-F238E27FC236}">
                <a16:creationId xmlns:a16="http://schemas.microsoft.com/office/drawing/2014/main" id="{F4D81DFB-C7B6-2461-9581-EE32336D137D}"/>
              </a:ext>
            </a:extLst>
          </p:cNvPr>
          <p:cNvSpPr>
            <a:spLocks noGrp="1"/>
          </p:cNvSpPr>
          <p:nvPr>
            <p:ph idx="1"/>
          </p:nvPr>
        </p:nvSpPr>
        <p:spPr>
          <a:xfrm>
            <a:off x="838200" y="1947227"/>
            <a:ext cx="10515600" cy="4190683"/>
          </a:xfrm>
        </p:spPr>
        <p:txBody>
          <a:bodyPr>
            <a:normAutofit/>
          </a:bodyPr>
          <a:lstStyle/>
          <a:p>
            <a:pPr algn="just"/>
            <a:r>
              <a:rPr lang="en-AU" sz="2000" dirty="0"/>
              <a:t>The first two methods implemented were basic statistical baselines. </a:t>
            </a:r>
          </a:p>
          <a:p>
            <a:pPr marL="0" indent="0" algn="just">
              <a:buNone/>
            </a:pPr>
            <a:endParaRPr lang="en-AU" sz="2000" dirty="0"/>
          </a:p>
          <a:p>
            <a:pPr algn="just"/>
            <a:endParaRPr lang="en-AU" sz="2000" dirty="0"/>
          </a:p>
          <a:p>
            <a:pPr algn="just"/>
            <a:r>
              <a:rPr lang="en-AU" sz="2000" dirty="0"/>
              <a:t>In Method 1, the system predicted a user’s rating for a movie based on that user’s average rating across all other movies they had rated. This assumes users are internally consistent in their preferences. </a:t>
            </a:r>
          </a:p>
          <a:p>
            <a:pPr algn="just"/>
            <a:r>
              <a:rPr lang="en-AU" sz="2000" dirty="0"/>
              <a:t>In Method 2, the predicted rating was based on the average score that the item (i.e., the movie) received from all users. This assumes that the movie’s overall popularity or quality is the main factor influencing its rating. </a:t>
            </a:r>
          </a:p>
          <a:p>
            <a:pPr algn="just"/>
            <a:r>
              <a:rPr lang="en-AU" sz="2000" dirty="0"/>
              <a:t>While both methods are simple and computationally efficient, they do not consider personalized preferences or similarities, which limits their predictive power.</a:t>
            </a:r>
            <a:endParaRPr lang="en-US" sz="2000" dirty="0"/>
          </a:p>
        </p:txBody>
      </p:sp>
      <p:pic>
        <p:nvPicPr>
          <p:cNvPr id="5" name="Picture 4" descr="A black and white math symbol&#10;&#10;AI-generated content may be incorrect.">
            <a:extLst>
              <a:ext uri="{FF2B5EF4-FFF2-40B4-BE49-F238E27FC236}">
                <a16:creationId xmlns:a16="http://schemas.microsoft.com/office/drawing/2014/main" id="{C31779B9-BB6D-A840-4852-DAB240B4AF83}"/>
              </a:ext>
            </a:extLst>
          </p:cNvPr>
          <p:cNvPicPr>
            <a:picLocks noChangeAspect="1"/>
          </p:cNvPicPr>
          <p:nvPr/>
        </p:nvPicPr>
        <p:blipFill>
          <a:blip r:embed="rId4"/>
          <a:stretch>
            <a:fillRect/>
          </a:stretch>
        </p:blipFill>
        <p:spPr>
          <a:xfrm>
            <a:off x="6096000" y="2465210"/>
            <a:ext cx="2070100" cy="584200"/>
          </a:xfrm>
          <a:prstGeom prst="rect">
            <a:avLst/>
          </a:prstGeom>
        </p:spPr>
      </p:pic>
      <p:pic>
        <p:nvPicPr>
          <p:cNvPr id="7" name="Picture 6" descr="A black symbol with a white background&#10;&#10;AI-generated content may be incorrect.">
            <a:extLst>
              <a:ext uri="{FF2B5EF4-FFF2-40B4-BE49-F238E27FC236}">
                <a16:creationId xmlns:a16="http://schemas.microsoft.com/office/drawing/2014/main" id="{279C8E35-D592-1B89-44DF-8D73B256411D}"/>
              </a:ext>
            </a:extLst>
          </p:cNvPr>
          <p:cNvPicPr>
            <a:picLocks noChangeAspect="1"/>
          </p:cNvPicPr>
          <p:nvPr/>
        </p:nvPicPr>
        <p:blipFill>
          <a:blip r:embed="rId5"/>
          <a:stretch>
            <a:fillRect/>
          </a:stretch>
        </p:blipFill>
        <p:spPr>
          <a:xfrm>
            <a:off x="3975100" y="2490610"/>
            <a:ext cx="2120900" cy="558800"/>
          </a:xfrm>
          <a:prstGeom prst="rect">
            <a:avLst/>
          </a:prstGeom>
        </p:spPr>
      </p:pic>
      <p:pic>
        <p:nvPicPr>
          <p:cNvPr id="9" name="Audio Recording 13 Jun 2025 at 10:01:20">
            <a:hlinkClick r:id="" action="ppaction://media"/>
            <a:extLst>
              <a:ext uri="{FF2B5EF4-FFF2-40B4-BE49-F238E27FC236}">
                <a16:creationId xmlns:a16="http://schemas.microsoft.com/office/drawing/2014/main" id="{D7092C7D-B496-8C69-E584-3E077E178842}"/>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5689600" y="3022600"/>
            <a:ext cx="812800" cy="812800"/>
          </a:xfrm>
          <a:prstGeom prst="rect">
            <a:avLst/>
          </a:prstGeom>
        </p:spPr>
      </p:pic>
    </p:spTree>
    <p:extLst>
      <p:ext uri="{BB962C8B-B14F-4D97-AF65-F5344CB8AC3E}">
        <p14:creationId xmlns:p14="http://schemas.microsoft.com/office/powerpoint/2010/main" val="1757478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7852"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9"/>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B380F-E00A-2CA2-8D14-0D83C8D2CF8D}"/>
              </a:ext>
            </a:extLst>
          </p:cNvPr>
          <p:cNvSpPr>
            <a:spLocks noGrp="1"/>
          </p:cNvSpPr>
          <p:nvPr>
            <p:ph type="title"/>
          </p:nvPr>
        </p:nvSpPr>
        <p:spPr/>
        <p:txBody>
          <a:bodyPr>
            <a:normAutofit/>
          </a:bodyPr>
          <a:lstStyle/>
          <a:p>
            <a:pPr algn="ctr"/>
            <a:r>
              <a:rPr lang="en-AU" sz="3200" b="1" i="0" dirty="0">
                <a:solidFill>
                  <a:srgbClr val="404040"/>
                </a:solidFill>
                <a:effectLst/>
                <a:latin typeface="quote-cjk-patch"/>
              </a:rPr>
              <a:t>Optimization of Method 3 (User KNN)</a:t>
            </a:r>
            <a:endParaRPr lang="en-US" sz="4000" dirty="0"/>
          </a:p>
        </p:txBody>
      </p:sp>
      <p:sp>
        <p:nvSpPr>
          <p:cNvPr id="3" name="Content Placeholder 2">
            <a:extLst>
              <a:ext uri="{FF2B5EF4-FFF2-40B4-BE49-F238E27FC236}">
                <a16:creationId xmlns:a16="http://schemas.microsoft.com/office/drawing/2014/main" id="{053935A2-C635-2807-49B8-395D8FD8EFE1}"/>
              </a:ext>
            </a:extLst>
          </p:cNvPr>
          <p:cNvSpPr>
            <a:spLocks noGrp="1"/>
          </p:cNvSpPr>
          <p:nvPr>
            <p:ph idx="1"/>
          </p:nvPr>
        </p:nvSpPr>
        <p:spPr/>
        <p:txBody>
          <a:bodyPr>
            <a:normAutofit/>
          </a:bodyPr>
          <a:lstStyle/>
          <a:p>
            <a:pPr algn="just"/>
            <a:r>
              <a:rPr lang="en-AU" sz="2000" dirty="0"/>
              <a:t>In Method 3, I implemented a user-based collaborative filtering algorithm using the K-Nearest </a:t>
            </a:r>
            <a:r>
              <a:rPr lang="en-AU" sz="2000" dirty="0" err="1"/>
              <a:t>Neighbors</a:t>
            </a:r>
            <a:r>
              <a:rPr lang="en-AU" sz="2000" dirty="0"/>
              <a:t> (KNN) approach. </a:t>
            </a:r>
          </a:p>
          <a:p>
            <a:pPr algn="just"/>
            <a:r>
              <a:rPr lang="en-AU" sz="2000" dirty="0"/>
              <a:t>For each prediction, the algorithm identified the top K most similar users set to k = 5, who had also rated the target movie. </a:t>
            </a:r>
          </a:p>
          <a:p>
            <a:pPr algn="just"/>
            <a:r>
              <a:rPr lang="en-AU" sz="2000" dirty="0"/>
              <a:t>Similarity was measured using cosine similarity between user’s rating vectors. </a:t>
            </a:r>
          </a:p>
          <a:p>
            <a:pPr algn="just"/>
            <a:r>
              <a:rPr lang="en-AU" sz="2000" dirty="0"/>
              <a:t>The predicted rating was then calculated as a weighted average of these </a:t>
            </a:r>
            <a:r>
              <a:rPr lang="en-AU" sz="2000" dirty="0" err="1"/>
              <a:t>neighbor’s</a:t>
            </a:r>
            <a:r>
              <a:rPr lang="en-AU" sz="2000" dirty="0"/>
              <a:t> ratings, weighted by their similarity scores. </a:t>
            </a:r>
          </a:p>
          <a:p>
            <a:pPr algn="just"/>
            <a:r>
              <a:rPr lang="en-AU" sz="2000" dirty="0"/>
              <a:t>In cases where no similar users had rated the movie, the algorithm defaulted to using the active user’s average rating. </a:t>
            </a:r>
          </a:p>
          <a:p>
            <a:pPr algn="just"/>
            <a:r>
              <a:rPr lang="en-AU" sz="2000" dirty="0"/>
              <a:t>This method accounts for personalization but is sensitive to data sparsity, especially when users have few overlapping ratings.</a:t>
            </a:r>
          </a:p>
          <a:p>
            <a:pPr algn="just"/>
            <a:endParaRPr lang="en-AU" dirty="0"/>
          </a:p>
        </p:txBody>
      </p:sp>
      <p:pic>
        <p:nvPicPr>
          <p:cNvPr id="6" name="Audio Recording 13 Jun 2025 at 10:02:42">
            <a:hlinkClick r:id="" action="ppaction://media"/>
            <a:extLst>
              <a:ext uri="{FF2B5EF4-FFF2-40B4-BE49-F238E27FC236}">
                <a16:creationId xmlns:a16="http://schemas.microsoft.com/office/drawing/2014/main" id="{5D6712BB-0E1D-5821-CA08-DA5DCA1CDDA5}"/>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5689600" y="3022600"/>
            <a:ext cx="812800" cy="812800"/>
          </a:xfrm>
          <a:prstGeom prst="rect">
            <a:avLst/>
          </a:prstGeom>
        </p:spPr>
      </p:pic>
    </p:spTree>
    <p:extLst>
      <p:ext uri="{BB962C8B-B14F-4D97-AF65-F5344CB8AC3E}">
        <p14:creationId xmlns:p14="http://schemas.microsoft.com/office/powerpoint/2010/main" val="3313464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6092"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6"/>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1B281-3E61-228F-9D9A-42776B79C80D}"/>
              </a:ext>
            </a:extLst>
          </p:cNvPr>
          <p:cNvSpPr>
            <a:spLocks noGrp="1"/>
          </p:cNvSpPr>
          <p:nvPr>
            <p:ph type="title"/>
          </p:nvPr>
        </p:nvSpPr>
        <p:spPr/>
        <p:txBody>
          <a:bodyPr>
            <a:normAutofit/>
          </a:bodyPr>
          <a:lstStyle/>
          <a:p>
            <a:pPr algn="ctr"/>
            <a:r>
              <a:rPr lang="en-AU" sz="3200" b="1" i="0" dirty="0">
                <a:solidFill>
                  <a:srgbClr val="404040"/>
                </a:solidFill>
                <a:effectLst/>
                <a:latin typeface="quote-cjk-patch"/>
              </a:rPr>
              <a:t>Optimization of Method 4 (Item KNN)</a:t>
            </a:r>
            <a:endParaRPr lang="en-US" sz="4000" dirty="0"/>
          </a:p>
        </p:txBody>
      </p:sp>
      <p:sp>
        <p:nvSpPr>
          <p:cNvPr id="3" name="Content Placeholder 2">
            <a:extLst>
              <a:ext uri="{FF2B5EF4-FFF2-40B4-BE49-F238E27FC236}">
                <a16:creationId xmlns:a16="http://schemas.microsoft.com/office/drawing/2014/main" id="{1E9DCC0A-2240-023B-4CFA-D5EBDD4B497E}"/>
              </a:ext>
            </a:extLst>
          </p:cNvPr>
          <p:cNvSpPr>
            <a:spLocks noGrp="1"/>
          </p:cNvSpPr>
          <p:nvPr>
            <p:ph idx="1"/>
          </p:nvPr>
        </p:nvSpPr>
        <p:spPr>
          <a:xfrm>
            <a:off x="838200" y="1951355"/>
            <a:ext cx="10515600" cy="3672205"/>
          </a:xfrm>
        </p:spPr>
        <p:txBody>
          <a:bodyPr>
            <a:normAutofit/>
          </a:bodyPr>
          <a:lstStyle/>
          <a:p>
            <a:pPr algn="just"/>
            <a:r>
              <a:rPr lang="en-US" sz="2000" dirty="0"/>
              <a:t>The fourth method used item-based collaborative filtering, which instead measures the similarity between movies. </a:t>
            </a:r>
          </a:p>
          <a:p>
            <a:pPr algn="just"/>
            <a:r>
              <a:rPr lang="en-US" sz="2000" dirty="0"/>
              <a:t>For a given user and target movie, the algorithm identified similar movies that the user had already rated, again using cosine similarity. </a:t>
            </a:r>
          </a:p>
          <a:p>
            <a:pPr algn="just"/>
            <a:r>
              <a:rPr lang="en-US" sz="2000" dirty="0"/>
              <a:t>The predicted rating was calculated as a weighted average of the user’s ratings on these similar items. </a:t>
            </a:r>
          </a:p>
          <a:p>
            <a:pPr algn="just"/>
            <a:r>
              <a:rPr lang="en-US" sz="2000" dirty="0"/>
              <a:t>If the user hadn’t rated any similar movies, the fallback was the item’s overall average rating. </a:t>
            </a:r>
          </a:p>
          <a:p>
            <a:pPr algn="just"/>
            <a:r>
              <a:rPr lang="en-US" sz="2000" dirty="0"/>
              <a:t>Item-based collaborative filtering tends to perform better in cases where items are commonly rated across many users, making the similarity computations more robust. </a:t>
            </a:r>
          </a:p>
          <a:p>
            <a:pPr algn="just"/>
            <a:r>
              <a:rPr lang="en-US" sz="2000" dirty="0"/>
              <a:t>Compared to user-based filtering, this approach is less affected by user sparsity.</a:t>
            </a:r>
          </a:p>
        </p:txBody>
      </p:sp>
      <p:pic>
        <p:nvPicPr>
          <p:cNvPr id="4" name="Audio Recording 13 Jun 2025 at 10:03:47">
            <a:hlinkClick r:id="" action="ppaction://media"/>
            <a:extLst>
              <a:ext uri="{FF2B5EF4-FFF2-40B4-BE49-F238E27FC236}">
                <a16:creationId xmlns:a16="http://schemas.microsoft.com/office/drawing/2014/main" id="{DB4C5F45-AB48-5498-856F-F0DF1D2C47B2}"/>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5689600" y="3022600"/>
            <a:ext cx="812800" cy="812800"/>
          </a:xfrm>
          <a:prstGeom prst="rect">
            <a:avLst/>
          </a:prstGeom>
        </p:spPr>
      </p:pic>
    </p:spTree>
    <p:extLst>
      <p:ext uri="{BB962C8B-B14F-4D97-AF65-F5344CB8AC3E}">
        <p14:creationId xmlns:p14="http://schemas.microsoft.com/office/powerpoint/2010/main" val="1794982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9132"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F1099-99D6-0C7E-EC87-13D7F56B92C2}"/>
              </a:ext>
            </a:extLst>
          </p:cNvPr>
          <p:cNvSpPr>
            <a:spLocks noGrp="1"/>
          </p:cNvSpPr>
          <p:nvPr>
            <p:ph type="title"/>
          </p:nvPr>
        </p:nvSpPr>
        <p:spPr/>
        <p:txBody>
          <a:bodyPr>
            <a:normAutofit/>
          </a:bodyPr>
          <a:lstStyle/>
          <a:p>
            <a:pPr algn="ctr"/>
            <a:r>
              <a:rPr lang="en-AU" sz="3200" b="1" i="0" dirty="0">
                <a:solidFill>
                  <a:srgbClr val="404040"/>
                </a:solidFill>
                <a:effectLst/>
                <a:latin typeface="quote-cjk-patch"/>
              </a:rPr>
              <a:t>Optimization of Method 5 (Hybrid Method)</a:t>
            </a:r>
            <a:endParaRPr lang="en-US" sz="4000" dirty="0"/>
          </a:p>
        </p:txBody>
      </p:sp>
      <p:sp>
        <p:nvSpPr>
          <p:cNvPr id="3" name="Content Placeholder 2">
            <a:extLst>
              <a:ext uri="{FF2B5EF4-FFF2-40B4-BE49-F238E27FC236}">
                <a16:creationId xmlns:a16="http://schemas.microsoft.com/office/drawing/2014/main" id="{C47253EA-CB33-B86F-BEC1-BA02BC2D267D}"/>
              </a:ext>
            </a:extLst>
          </p:cNvPr>
          <p:cNvSpPr>
            <a:spLocks noGrp="1"/>
          </p:cNvSpPr>
          <p:nvPr>
            <p:ph idx="1"/>
          </p:nvPr>
        </p:nvSpPr>
        <p:spPr>
          <a:xfrm>
            <a:off x="838200" y="2358672"/>
            <a:ext cx="10515600" cy="3699228"/>
          </a:xfrm>
        </p:spPr>
        <p:txBody>
          <a:bodyPr>
            <a:normAutofit/>
          </a:bodyPr>
          <a:lstStyle/>
          <a:p>
            <a:pPr marL="0" indent="0">
              <a:buNone/>
            </a:pPr>
            <a:endParaRPr lang="en-US" sz="2000" dirty="0"/>
          </a:p>
          <a:p>
            <a:r>
              <a:rPr lang="en-US" sz="2000" dirty="0"/>
              <a:t>The final method combined the strengths of both user-based and item-based collaborative filtering in a hybrid approach. </a:t>
            </a:r>
          </a:p>
          <a:p>
            <a:r>
              <a:rPr lang="en-US" sz="2000" dirty="0"/>
              <a:t>The final predicted rating was computed as a weighted average of the user-based and item-based predictions. </a:t>
            </a:r>
          </a:p>
          <a:p>
            <a:r>
              <a:rPr lang="en-US" sz="2000" dirty="0"/>
              <a:t>A lambda value (</a:t>
            </a:r>
            <a:r>
              <a:rPr lang="el-GR" sz="2000" dirty="0"/>
              <a:t>λ) </a:t>
            </a:r>
            <a:r>
              <a:rPr lang="en-US" sz="2000" dirty="0"/>
              <a:t>of 0.5 was chosen, meaning both components contributed equally. </a:t>
            </a:r>
          </a:p>
          <a:p>
            <a:r>
              <a:rPr lang="en-US" sz="2000" dirty="0"/>
              <a:t>This hybrid model leverages the personal preferences captured by user-based filtering, as well as the stable popularity trends captured by item-based filtering. </a:t>
            </a:r>
          </a:p>
          <a:p>
            <a:r>
              <a:rPr lang="en-US" sz="2000" dirty="0"/>
              <a:t>The combination addresses the limitations of either approach individually, providing a more balanced and reliable recommendation output.</a:t>
            </a:r>
          </a:p>
        </p:txBody>
      </p:sp>
      <p:pic>
        <p:nvPicPr>
          <p:cNvPr id="5" name="Picture 4" descr="A math symbols with a plus and a smiley face&#10;&#10;AI-generated content may be incorrect.">
            <a:extLst>
              <a:ext uri="{FF2B5EF4-FFF2-40B4-BE49-F238E27FC236}">
                <a16:creationId xmlns:a16="http://schemas.microsoft.com/office/drawing/2014/main" id="{FEB1A63A-B1E7-9D61-693E-3DCF27F1C339}"/>
              </a:ext>
            </a:extLst>
          </p:cNvPr>
          <p:cNvPicPr>
            <a:picLocks noChangeAspect="1"/>
          </p:cNvPicPr>
          <p:nvPr/>
        </p:nvPicPr>
        <p:blipFill>
          <a:blip r:embed="rId4"/>
          <a:stretch>
            <a:fillRect/>
          </a:stretch>
        </p:blipFill>
        <p:spPr>
          <a:xfrm>
            <a:off x="4156710" y="1729105"/>
            <a:ext cx="3878580" cy="629567"/>
          </a:xfrm>
          <a:prstGeom prst="rect">
            <a:avLst/>
          </a:prstGeom>
        </p:spPr>
      </p:pic>
      <p:pic>
        <p:nvPicPr>
          <p:cNvPr id="6" name="Audio Recording 13 Jun 2025 at 10:04:55">
            <a:hlinkClick r:id="" action="ppaction://media"/>
            <a:extLst>
              <a:ext uri="{FF2B5EF4-FFF2-40B4-BE49-F238E27FC236}">
                <a16:creationId xmlns:a16="http://schemas.microsoft.com/office/drawing/2014/main" id="{506EA3C9-BBE0-E900-2D4D-A21D56F57A19}"/>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5689600" y="3022600"/>
            <a:ext cx="812800" cy="812800"/>
          </a:xfrm>
          <a:prstGeom prst="rect">
            <a:avLst/>
          </a:prstGeom>
        </p:spPr>
      </p:pic>
    </p:spTree>
    <p:extLst>
      <p:ext uri="{BB962C8B-B14F-4D97-AF65-F5344CB8AC3E}">
        <p14:creationId xmlns:p14="http://schemas.microsoft.com/office/powerpoint/2010/main" val="77419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8748"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6"/>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D7F57-FECC-BEBA-21A5-3DC7B100488B}"/>
              </a:ext>
            </a:extLst>
          </p:cNvPr>
          <p:cNvSpPr>
            <a:spLocks noGrp="1"/>
          </p:cNvSpPr>
          <p:nvPr>
            <p:ph type="title"/>
          </p:nvPr>
        </p:nvSpPr>
        <p:spPr/>
        <p:txBody>
          <a:bodyPr>
            <a:normAutofit/>
          </a:bodyPr>
          <a:lstStyle/>
          <a:p>
            <a:pPr algn="ctr"/>
            <a:r>
              <a:rPr lang="en-AU" sz="3200" b="1" i="0" dirty="0">
                <a:solidFill>
                  <a:srgbClr val="404040"/>
                </a:solidFill>
                <a:effectLst/>
                <a:latin typeface="quote-cjk-patch"/>
              </a:rPr>
              <a:t>Performance Comparison</a:t>
            </a:r>
            <a:endParaRPr lang="en-US" sz="3200" dirty="0"/>
          </a:p>
        </p:txBody>
      </p:sp>
      <p:graphicFrame>
        <p:nvGraphicFramePr>
          <p:cNvPr id="4" name="Content Placeholder 3">
            <a:extLst>
              <a:ext uri="{FF2B5EF4-FFF2-40B4-BE49-F238E27FC236}">
                <a16:creationId xmlns:a16="http://schemas.microsoft.com/office/drawing/2014/main" id="{F167217C-DDA0-0DD9-D1DF-C8416C7ABC06}"/>
              </a:ext>
            </a:extLst>
          </p:cNvPr>
          <p:cNvGraphicFramePr>
            <a:graphicFrameLocks noGrp="1"/>
          </p:cNvGraphicFramePr>
          <p:nvPr>
            <p:ph idx="1"/>
            <p:extLst>
              <p:ext uri="{D42A27DB-BD31-4B8C-83A1-F6EECF244321}">
                <p14:modId xmlns:p14="http://schemas.microsoft.com/office/powerpoint/2010/main" val="105056189"/>
              </p:ext>
            </p:extLst>
          </p:nvPr>
        </p:nvGraphicFramePr>
        <p:xfrm>
          <a:off x="838197" y="2722375"/>
          <a:ext cx="10515597" cy="2780160"/>
        </p:xfrm>
        <a:graphic>
          <a:graphicData uri="http://schemas.openxmlformats.org/drawingml/2006/table">
            <a:tbl>
              <a:tblPr firstRow="1" bandRow="1">
                <a:tableStyleId>{2D5ABB26-0587-4C30-8999-92F81FD0307C}</a:tableStyleId>
              </a:tblPr>
              <a:tblGrid>
                <a:gridCol w="3505199">
                  <a:extLst>
                    <a:ext uri="{9D8B030D-6E8A-4147-A177-3AD203B41FA5}">
                      <a16:colId xmlns:a16="http://schemas.microsoft.com/office/drawing/2014/main" val="4242901697"/>
                    </a:ext>
                  </a:extLst>
                </a:gridCol>
                <a:gridCol w="3505199">
                  <a:extLst>
                    <a:ext uri="{9D8B030D-6E8A-4147-A177-3AD203B41FA5}">
                      <a16:colId xmlns:a16="http://schemas.microsoft.com/office/drawing/2014/main" val="646093370"/>
                    </a:ext>
                  </a:extLst>
                </a:gridCol>
                <a:gridCol w="3505199">
                  <a:extLst>
                    <a:ext uri="{9D8B030D-6E8A-4147-A177-3AD203B41FA5}">
                      <a16:colId xmlns:a16="http://schemas.microsoft.com/office/drawing/2014/main" val="2856465025"/>
                    </a:ext>
                  </a:extLst>
                </a:gridCol>
              </a:tblGrid>
              <a:tr h="370840">
                <a:tc>
                  <a:txBody>
                    <a:bodyPr/>
                    <a:lstStyle/>
                    <a:p>
                      <a:pPr algn="ctr">
                        <a:lnSpc>
                          <a:spcPct val="150000"/>
                        </a:lnSpc>
                      </a:pPr>
                      <a:r>
                        <a:rPr lang="en-US" b="1" dirty="0"/>
                        <a:t>Method</a:t>
                      </a:r>
                    </a:p>
                  </a:txBody>
                  <a:tcPr>
                    <a:lnB w="12700" cap="flat" cmpd="sng" algn="ctr">
                      <a:solidFill>
                        <a:schemeClr val="tx1"/>
                      </a:solidFill>
                      <a:prstDash val="solid"/>
                      <a:round/>
                      <a:headEnd type="none" w="med" len="med"/>
                      <a:tailEnd type="none" w="med" len="med"/>
                    </a:lnB>
                  </a:tcPr>
                </a:tc>
                <a:tc>
                  <a:txBody>
                    <a:bodyPr/>
                    <a:lstStyle/>
                    <a:p>
                      <a:pPr algn="ctr">
                        <a:lnSpc>
                          <a:spcPct val="150000"/>
                        </a:lnSpc>
                      </a:pPr>
                      <a:r>
                        <a:rPr lang="en-US" b="1" dirty="0"/>
                        <a:t>MAE</a:t>
                      </a:r>
                    </a:p>
                  </a:txBody>
                  <a:tcPr>
                    <a:lnB w="12700" cap="flat" cmpd="sng" algn="ctr">
                      <a:solidFill>
                        <a:schemeClr val="tx1"/>
                      </a:solidFill>
                      <a:prstDash val="solid"/>
                      <a:round/>
                      <a:headEnd type="none" w="med" len="med"/>
                      <a:tailEnd type="none" w="med" len="med"/>
                    </a:lnB>
                  </a:tcPr>
                </a:tc>
                <a:tc>
                  <a:txBody>
                    <a:bodyPr/>
                    <a:lstStyle/>
                    <a:p>
                      <a:pPr algn="ctr">
                        <a:lnSpc>
                          <a:spcPct val="150000"/>
                        </a:lnSpc>
                      </a:pPr>
                      <a:r>
                        <a:rPr lang="en-US" b="1" dirty="0"/>
                        <a:t>RMSE</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67435124"/>
                  </a:ext>
                </a:extLst>
              </a:tr>
              <a:tr h="370840">
                <a:tc>
                  <a:txBody>
                    <a:bodyPr/>
                    <a:lstStyle/>
                    <a:p>
                      <a:pPr marL="0" lvl="0" algn="ctr">
                        <a:lnSpc>
                          <a:spcPct val="150000"/>
                        </a:lnSpc>
                        <a:spcBef>
                          <a:spcPts val="0"/>
                        </a:spcBef>
                        <a:spcAft>
                          <a:spcPts val="0"/>
                        </a:spcAft>
                      </a:pPr>
                      <a:r>
                        <a:rPr lang="en-US" dirty="0">
                          <a:solidFill>
                            <a:schemeClr val="tx1"/>
                          </a:solidFill>
                        </a:rPr>
                        <a:t>Method 1</a:t>
                      </a:r>
                    </a:p>
                  </a:txBody>
                  <a:tcPr anchor="ct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lvl="0" algn="ctr">
                        <a:lnSpc>
                          <a:spcPct val="150000"/>
                        </a:lnSpc>
                        <a:spcBef>
                          <a:spcPts val="0"/>
                        </a:spcBef>
                        <a:spcAft>
                          <a:spcPts val="0"/>
                        </a:spcAft>
                      </a:pPr>
                      <a:r>
                        <a:rPr lang="en-US" dirty="0"/>
                        <a:t>0.8259</a:t>
                      </a:r>
                    </a:p>
                  </a:txBody>
                  <a:tcPr anchor="ct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lvl="0" algn="ctr">
                        <a:lnSpc>
                          <a:spcPct val="150000"/>
                        </a:lnSpc>
                        <a:spcBef>
                          <a:spcPts val="0"/>
                        </a:spcBef>
                        <a:spcAft>
                          <a:spcPts val="0"/>
                        </a:spcAft>
                      </a:pPr>
                      <a:r>
                        <a:rPr lang="en-US" dirty="0"/>
                        <a:t>1.0311</a:t>
                      </a:r>
                    </a:p>
                  </a:txBody>
                  <a:tcPr anchor="ct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03924475"/>
                  </a:ext>
                </a:extLst>
              </a:tr>
              <a:tr h="370840">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dirty="0">
                          <a:solidFill>
                            <a:schemeClr val="tx1"/>
                          </a:solidFill>
                        </a:rPr>
                        <a:t>Method 2</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lvl="0" algn="ctr">
                        <a:lnSpc>
                          <a:spcPct val="150000"/>
                        </a:lnSpc>
                        <a:spcBef>
                          <a:spcPts val="0"/>
                        </a:spcBef>
                        <a:spcAft>
                          <a:spcPts val="0"/>
                        </a:spcAft>
                      </a:pPr>
                      <a:r>
                        <a:rPr lang="en-US" dirty="0"/>
                        <a:t>0.7961</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lvl="0" algn="ctr">
                        <a:lnSpc>
                          <a:spcPct val="150000"/>
                        </a:lnSpc>
                        <a:spcBef>
                          <a:spcPts val="0"/>
                        </a:spcBef>
                        <a:spcAft>
                          <a:spcPts val="0"/>
                        </a:spcAft>
                      </a:pPr>
                      <a:r>
                        <a:rPr lang="en-US" dirty="0"/>
                        <a:t>1.0013</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74846806"/>
                  </a:ext>
                </a:extLst>
              </a:tr>
              <a:tr h="370840">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dirty="0">
                          <a:solidFill>
                            <a:schemeClr val="tx1"/>
                          </a:solidFill>
                        </a:rPr>
                        <a:t>Method 3</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lvl="0" algn="ctr">
                        <a:lnSpc>
                          <a:spcPct val="150000"/>
                        </a:lnSpc>
                        <a:spcBef>
                          <a:spcPts val="0"/>
                        </a:spcBef>
                        <a:spcAft>
                          <a:spcPts val="0"/>
                        </a:spcAft>
                      </a:pPr>
                      <a:r>
                        <a:rPr lang="en-US" dirty="0"/>
                        <a:t>0.8247</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lvl="0" algn="ctr">
                        <a:lnSpc>
                          <a:spcPct val="150000"/>
                        </a:lnSpc>
                        <a:spcBef>
                          <a:spcPts val="0"/>
                        </a:spcBef>
                        <a:spcAft>
                          <a:spcPts val="0"/>
                        </a:spcAft>
                      </a:pPr>
                      <a:r>
                        <a:rPr lang="en-US" dirty="0"/>
                        <a:t>1.0431</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2055355"/>
                  </a:ext>
                </a:extLst>
              </a:tr>
              <a:tr h="370840">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dirty="0">
                          <a:solidFill>
                            <a:schemeClr val="tx1"/>
                          </a:solidFill>
                        </a:rPr>
                        <a:t>Method 4</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lvl="0" algn="ctr">
                        <a:lnSpc>
                          <a:spcPct val="150000"/>
                        </a:lnSpc>
                        <a:spcBef>
                          <a:spcPts val="0"/>
                        </a:spcBef>
                        <a:spcAft>
                          <a:spcPts val="0"/>
                        </a:spcAft>
                      </a:pPr>
                      <a:r>
                        <a:rPr lang="en-US" dirty="0"/>
                        <a:t>0.7570</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lvl="0" algn="ctr">
                        <a:lnSpc>
                          <a:spcPct val="150000"/>
                        </a:lnSpc>
                        <a:spcBef>
                          <a:spcPts val="0"/>
                        </a:spcBef>
                        <a:spcAft>
                          <a:spcPts val="0"/>
                        </a:spcAft>
                      </a:pPr>
                      <a:r>
                        <a:rPr lang="en-US" dirty="0"/>
                        <a:t>0.9845</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4436669"/>
                  </a:ext>
                </a:extLst>
              </a:tr>
              <a:tr h="370840">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dirty="0">
                          <a:solidFill>
                            <a:schemeClr val="tx1"/>
                          </a:solidFill>
                        </a:rPr>
                        <a:t>Method 5</a:t>
                      </a:r>
                    </a:p>
                  </a:txBody>
                  <a:tcPr anchor="ctr">
                    <a:lnT w="3175" cap="flat" cmpd="sng" algn="ctr">
                      <a:solidFill>
                        <a:schemeClr val="tx1"/>
                      </a:solidFill>
                      <a:prstDash val="solid"/>
                      <a:round/>
                      <a:headEnd type="none" w="med" len="med"/>
                      <a:tailEnd type="none" w="med" len="med"/>
                    </a:lnT>
                  </a:tcPr>
                </a:tc>
                <a:tc>
                  <a:txBody>
                    <a:bodyPr/>
                    <a:lstStyle/>
                    <a:p>
                      <a:pPr marL="0" lvl="0" algn="ctr">
                        <a:lnSpc>
                          <a:spcPct val="150000"/>
                        </a:lnSpc>
                        <a:spcBef>
                          <a:spcPts val="0"/>
                        </a:spcBef>
                        <a:spcAft>
                          <a:spcPts val="0"/>
                        </a:spcAft>
                      </a:pPr>
                      <a:r>
                        <a:rPr lang="en-US" dirty="0"/>
                        <a:t>0.7329</a:t>
                      </a:r>
                    </a:p>
                  </a:txBody>
                  <a:tcPr anchor="ctr">
                    <a:lnT w="3175" cap="flat" cmpd="sng" algn="ctr">
                      <a:solidFill>
                        <a:schemeClr val="tx1"/>
                      </a:solidFill>
                      <a:prstDash val="solid"/>
                      <a:round/>
                      <a:headEnd type="none" w="med" len="med"/>
                      <a:tailEnd type="none" w="med" len="med"/>
                    </a:lnT>
                  </a:tcPr>
                </a:tc>
                <a:tc>
                  <a:txBody>
                    <a:bodyPr/>
                    <a:lstStyle/>
                    <a:p>
                      <a:pPr marL="0" lvl="0" algn="ctr">
                        <a:lnSpc>
                          <a:spcPct val="150000"/>
                        </a:lnSpc>
                        <a:spcBef>
                          <a:spcPts val="0"/>
                        </a:spcBef>
                        <a:spcAft>
                          <a:spcPts val="0"/>
                        </a:spcAft>
                      </a:pPr>
                      <a:r>
                        <a:rPr lang="en-US" dirty="0"/>
                        <a:t>0.9362</a:t>
                      </a:r>
                    </a:p>
                  </a:txBody>
                  <a:tcPr anchor="ctr">
                    <a:lnT w="31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640085254"/>
                  </a:ext>
                </a:extLst>
              </a:tr>
            </a:tbl>
          </a:graphicData>
        </a:graphic>
      </p:graphicFrame>
      <p:sp>
        <p:nvSpPr>
          <p:cNvPr id="8" name="TextBox 7">
            <a:extLst>
              <a:ext uri="{FF2B5EF4-FFF2-40B4-BE49-F238E27FC236}">
                <a16:creationId xmlns:a16="http://schemas.microsoft.com/office/drawing/2014/main" id="{01F7D6E0-1466-31E9-34E1-0382101C7DA7}"/>
              </a:ext>
            </a:extLst>
          </p:cNvPr>
          <p:cNvSpPr txBox="1"/>
          <p:nvPr/>
        </p:nvSpPr>
        <p:spPr>
          <a:xfrm>
            <a:off x="838197" y="1690688"/>
            <a:ext cx="10515597" cy="707886"/>
          </a:xfrm>
          <a:prstGeom prst="rect">
            <a:avLst/>
          </a:prstGeom>
          <a:noFill/>
        </p:spPr>
        <p:txBody>
          <a:bodyPr wrap="square" rtlCol="0">
            <a:spAutoFit/>
          </a:bodyPr>
          <a:lstStyle/>
          <a:p>
            <a:pPr marL="342900" indent="-342900">
              <a:buFont typeface="Arial" panose="020B0604020202020204" pitchFamily="34" charset="0"/>
              <a:buChar char="•"/>
            </a:pPr>
            <a:r>
              <a:rPr lang="en-AU" sz="2000" dirty="0"/>
              <a:t>The following table summarizes the performance of all five methods based on MAE and RMSE. Lower values indicate better accuracy.</a:t>
            </a:r>
            <a:endParaRPr lang="en-US" sz="2000" dirty="0"/>
          </a:p>
        </p:txBody>
      </p:sp>
      <p:pic>
        <p:nvPicPr>
          <p:cNvPr id="9" name="Audio Recording 13 Jun 2025 at 10:07:45">
            <a:hlinkClick r:id="" action="ppaction://media"/>
            <a:extLst>
              <a:ext uri="{FF2B5EF4-FFF2-40B4-BE49-F238E27FC236}">
                <a16:creationId xmlns:a16="http://schemas.microsoft.com/office/drawing/2014/main" id="{AEF4FEEF-C6D7-A1EB-0CE7-4938E7666A58}"/>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5689600" y="3022600"/>
            <a:ext cx="812800" cy="812800"/>
          </a:xfrm>
          <a:prstGeom prst="rect">
            <a:avLst/>
          </a:prstGeom>
        </p:spPr>
      </p:pic>
    </p:spTree>
    <p:extLst>
      <p:ext uri="{BB962C8B-B14F-4D97-AF65-F5344CB8AC3E}">
        <p14:creationId xmlns:p14="http://schemas.microsoft.com/office/powerpoint/2010/main" val="2720473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4236"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9"/>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349E6-B243-3903-F5AA-2AC39F2A1656}"/>
              </a:ext>
            </a:extLst>
          </p:cNvPr>
          <p:cNvSpPr>
            <a:spLocks noGrp="1"/>
          </p:cNvSpPr>
          <p:nvPr>
            <p:ph type="title"/>
          </p:nvPr>
        </p:nvSpPr>
        <p:spPr/>
        <p:txBody>
          <a:bodyPr>
            <a:normAutofit/>
          </a:bodyPr>
          <a:lstStyle/>
          <a:p>
            <a:pPr algn="ctr"/>
            <a:r>
              <a:rPr lang="en-US" sz="3200" b="1" dirty="0"/>
              <a:t>Performance Comparison and Insights</a:t>
            </a:r>
          </a:p>
        </p:txBody>
      </p:sp>
      <p:sp>
        <p:nvSpPr>
          <p:cNvPr id="3" name="Content Placeholder 2">
            <a:extLst>
              <a:ext uri="{FF2B5EF4-FFF2-40B4-BE49-F238E27FC236}">
                <a16:creationId xmlns:a16="http://schemas.microsoft.com/office/drawing/2014/main" id="{3B9F8606-E3A8-1C5F-307F-FBC5BE4F863B}"/>
              </a:ext>
            </a:extLst>
          </p:cNvPr>
          <p:cNvSpPr>
            <a:spLocks noGrp="1"/>
          </p:cNvSpPr>
          <p:nvPr>
            <p:ph idx="1"/>
          </p:nvPr>
        </p:nvSpPr>
        <p:spPr>
          <a:xfrm>
            <a:off x="838200" y="1690688"/>
            <a:ext cx="10515600" cy="4766310"/>
          </a:xfrm>
        </p:spPr>
        <p:txBody>
          <a:bodyPr>
            <a:noAutofit/>
          </a:bodyPr>
          <a:lstStyle/>
          <a:p>
            <a:pPr algn="just"/>
            <a:r>
              <a:rPr lang="en-US" sz="2000" dirty="0"/>
              <a:t>Our results clearly ranked the methods. The user and item averages had the highest MAE (0.8259 and 0.7961) and RMSE (1.0311 and 1.0013), reflecting their simplicity. </a:t>
            </a:r>
          </a:p>
          <a:p>
            <a:pPr algn="just"/>
            <a:r>
              <a:rPr lang="en-US" sz="2000" dirty="0"/>
              <a:t>User KNN improved these metrics to 0.8247 and 1.0431, while Item KNN did slightly better at 0.7570 and 0.9845. </a:t>
            </a:r>
          </a:p>
          <a:p>
            <a:pPr algn="just"/>
            <a:r>
              <a:rPr lang="en-US" sz="2000" dirty="0"/>
              <a:t>The hybrid method outperformed all others, achieving an MAE of 0.7329 and RMSE of 0.9362.</a:t>
            </a:r>
          </a:p>
          <a:p>
            <a:pPr algn="just"/>
            <a:r>
              <a:rPr lang="en-US" sz="2000" dirty="0"/>
              <a:t>The hybrid method demonstrates the advantage of integrating both user and item perspectives into a unified prediction.</a:t>
            </a:r>
          </a:p>
          <a:p>
            <a:pPr algn="just"/>
            <a:r>
              <a:rPr lang="en-US" sz="2000" dirty="0"/>
              <a:t>A key insight from this task was the impact of data sparsity. Many users in the dataset had rated only a small number of movies, which reduced the effectiveness of user-based similarity. </a:t>
            </a:r>
          </a:p>
          <a:p>
            <a:pPr algn="just"/>
            <a:r>
              <a:rPr lang="en-US" sz="2000" dirty="0"/>
              <a:t>In contrast, items tended to have more consistent rating patterns across users, allowing item-based collaborative filtering to make more stable and accurate predictions. </a:t>
            </a:r>
          </a:p>
          <a:p>
            <a:pPr algn="just"/>
            <a:r>
              <a:rPr lang="en-US" sz="2000" dirty="0"/>
              <a:t>The hybrid method proved to be the most robust, effectively balancing the strengths of both individual methods. </a:t>
            </a:r>
          </a:p>
        </p:txBody>
      </p:sp>
      <p:pic>
        <p:nvPicPr>
          <p:cNvPr id="4" name="Audio Recording 13 Jun 2025 at 10:09:23">
            <a:hlinkClick r:id="" action="ppaction://media"/>
            <a:extLst>
              <a:ext uri="{FF2B5EF4-FFF2-40B4-BE49-F238E27FC236}">
                <a16:creationId xmlns:a16="http://schemas.microsoft.com/office/drawing/2014/main" id="{AEF89EDA-EF17-0D9E-7ED6-F84A5CBE6B42}"/>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5689600" y="3022600"/>
            <a:ext cx="812800" cy="812800"/>
          </a:xfrm>
          <a:prstGeom prst="rect">
            <a:avLst/>
          </a:prstGeom>
        </p:spPr>
      </p:pic>
    </p:spTree>
    <p:extLst>
      <p:ext uri="{BB962C8B-B14F-4D97-AF65-F5344CB8AC3E}">
        <p14:creationId xmlns:p14="http://schemas.microsoft.com/office/powerpoint/2010/main" val="2962601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95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99DED-91B7-1678-1C95-4E5024C88AA5}"/>
              </a:ext>
            </a:extLst>
          </p:cNvPr>
          <p:cNvSpPr>
            <a:spLocks noGrp="1"/>
          </p:cNvSpPr>
          <p:nvPr>
            <p:ph type="title"/>
          </p:nvPr>
        </p:nvSpPr>
        <p:spPr/>
        <p:txBody>
          <a:bodyPr>
            <a:normAutofit/>
          </a:bodyPr>
          <a:lstStyle/>
          <a:p>
            <a:pPr algn="ctr"/>
            <a:r>
              <a:rPr lang="en-AU" sz="3200" b="1" dirty="0"/>
              <a:t>Conclusion</a:t>
            </a:r>
            <a:endParaRPr lang="en-US" sz="3200" b="1" dirty="0"/>
          </a:p>
        </p:txBody>
      </p:sp>
      <p:sp>
        <p:nvSpPr>
          <p:cNvPr id="3" name="Content Placeholder 2">
            <a:extLst>
              <a:ext uri="{FF2B5EF4-FFF2-40B4-BE49-F238E27FC236}">
                <a16:creationId xmlns:a16="http://schemas.microsoft.com/office/drawing/2014/main" id="{D9A15B0A-09E7-BE6D-A9BE-47DD30C30942}"/>
              </a:ext>
            </a:extLst>
          </p:cNvPr>
          <p:cNvSpPr>
            <a:spLocks noGrp="1"/>
          </p:cNvSpPr>
          <p:nvPr>
            <p:ph idx="1"/>
          </p:nvPr>
        </p:nvSpPr>
        <p:spPr/>
        <p:txBody>
          <a:bodyPr>
            <a:normAutofit/>
          </a:bodyPr>
          <a:lstStyle/>
          <a:p>
            <a:r>
              <a:rPr lang="en-US" sz="2000" dirty="0"/>
              <a:t>To conclude, the hybrid collaborative filtering method produced the best overall performance in this assignment. </a:t>
            </a:r>
          </a:p>
          <a:p>
            <a:r>
              <a:rPr lang="en-US" sz="2000" dirty="0"/>
              <a:t>While the baseline approaches were useful for benchmarking, their lack of personalization limited their effectiveness. </a:t>
            </a:r>
          </a:p>
          <a:p>
            <a:r>
              <a:rPr lang="en-US" sz="2000" dirty="0"/>
              <a:t>User-based collaborative filtering added personalization but struggled with sparsity, while item-based filtering provided better stability. </a:t>
            </a:r>
          </a:p>
          <a:p>
            <a:r>
              <a:rPr lang="en-US" sz="2000" dirty="0"/>
              <a:t>The hybrid model succeeded by combining both. </a:t>
            </a:r>
          </a:p>
          <a:p>
            <a:r>
              <a:rPr lang="en-US" sz="2000" dirty="0"/>
              <a:t>For future improvements, I would explore tuning parameters like the number of neighbors (K) and the lambda value. </a:t>
            </a:r>
          </a:p>
          <a:p>
            <a:r>
              <a:rPr lang="en-US" sz="2000" dirty="0"/>
              <a:t>Additionally, I would consider matrix factorization techniques like SVD or deep learning models to further improve recommendation accuracy and scalability.</a:t>
            </a:r>
          </a:p>
        </p:txBody>
      </p:sp>
      <p:pic>
        <p:nvPicPr>
          <p:cNvPr id="4" name="Audio Recording 13 Jun 2025 at 10:11:08">
            <a:hlinkClick r:id="" action="ppaction://media"/>
            <a:extLst>
              <a:ext uri="{FF2B5EF4-FFF2-40B4-BE49-F238E27FC236}">
                <a16:creationId xmlns:a16="http://schemas.microsoft.com/office/drawing/2014/main" id="{83831D84-683B-BFD2-D823-8D630C964712}"/>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5689600" y="3022600"/>
            <a:ext cx="812800" cy="812800"/>
          </a:xfrm>
          <a:prstGeom prst="rect">
            <a:avLst/>
          </a:prstGeom>
        </p:spPr>
      </p:pic>
    </p:spTree>
    <p:extLst>
      <p:ext uri="{BB962C8B-B14F-4D97-AF65-F5344CB8AC3E}">
        <p14:creationId xmlns:p14="http://schemas.microsoft.com/office/powerpoint/2010/main" val="4229186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974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952</TotalTime>
  <Words>942</Words>
  <Application>Microsoft Macintosh PowerPoint</Application>
  <PresentationFormat>Widescreen</PresentationFormat>
  <Paragraphs>98</Paragraphs>
  <Slides>10</Slides>
  <Notes>0</Notes>
  <HiddenSlides>0</HiddenSlides>
  <MMClips>10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Aptos</vt:lpstr>
      <vt:lpstr>Aptos Display</vt:lpstr>
      <vt:lpstr>Arial</vt:lpstr>
      <vt:lpstr>quote-cjk-patch</vt:lpstr>
      <vt:lpstr>Times New Roman</vt:lpstr>
      <vt:lpstr>Wingdings</vt:lpstr>
      <vt:lpstr>Office Theme</vt:lpstr>
      <vt:lpstr>Collaborative Filtering Recommender Systems</vt:lpstr>
      <vt:lpstr>Dataset &amp; Problem Statement</vt:lpstr>
      <vt:lpstr>Methods Overview</vt:lpstr>
      <vt:lpstr>Method 1 &amp; 2 – Baseline Approaches</vt:lpstr>
      <vt:lpstr>Optimization of Method 3 (User KNN)</vt:lpstr>
      <vt:lpstr>Optimization of Method 4 (Item KNN)</vt:lpstr>
      <vt:lpstr>Optimization of Method 5 (Hybrid Method)</vt:lpstr>
      <vt:lpstr>Performance Comparison</vt:lpstr>
      <vt:lpstr>Performance Comparison and Insights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Virajkumar Govindbhai Patel</dc:creator>
  <cp:lastModifiedBy>Virajkumar Govindbhai Patel</cp:lastModifiedBy>
  <cp:revision>13</cp:revision>
  <dcterms:created xsi:type="dcterms:W3CDTF">2025-06-12T08:19:22Z</dcterms:created>
  <dcterms:modified xsi:type="dcterms:W3CDTF">2025-06-13T00:11:44Z</dcterms:modified>
</cp:coreProperties>
</file>